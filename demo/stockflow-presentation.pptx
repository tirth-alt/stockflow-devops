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c68624e-6f30-4051-e419-42d224141c6e}">
          <p14:sldIdLst>
            <p14:sldId id="256"/>
            <p14:sldId id="257"/>
          </p14:sldIdLst>
        </p14:section>
        <p14:section name="Architecture" id="{09e13be7-a836-b034-0d77-be43163ebf4a}">
          <p14:sldIdLst>
            <p14:sldId id="258"/>
            <p14:sldId id="259"/>
          </p14:sldIdLst>
        </p14:section>
        <p14:section name="Build and ship" id="{3a5d04ef-12e3-7815-a50c-f2b33efe5866}">
          <p14:sldIdLst>
            <p14:sldId id="260"/>
            <p14:sldId id="261"/>
            <p14:sldId id="262"/>
          </p14:sldIdLst>
        </p14:section>
        <p14:section name="Infrastructure" id="{e25b164b-fb47-49d1-4cf7-6b2e1625ad03}">
          <p14:sldIdLst>
            <p14:sldId id="263"/>
          </p14:sldIdLst>
        </p14:section>
        <p14:section name="Kubernetes" id="{d1e65b07-c536-f08f-1e03-cf30dd2301e3}">
          <p14:sldIdLst>
            <p14:sldId id="264"/>
            <p14:sldId id="265"/>
          </p14:sldIdLst>
        </p14:section>
        <p14:section name="Observability" id="{7da33444-7c7e-8719-e405-9e40dacf9844}">
          <p14:sldIdLst>
            <p14:sldId id="266"/>
            <p14:sldId id="267"/>
          </p14:sldIdLst>
        </p14:section>
        <p14:section name="Close" id="{a8a983d9-5c46-ef6d-66f6-0f757b46cad0}">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StockFlow is a small inventory app for a hardware store's stock room. The app is intentionally small: the project is about taking it from a laptop to a monitored Kubernetes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Staff add and edit products, adjust stock with one click, and see the restock queue. Nginx proxies /api, so the browser never needs the backend hostname.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push to main runs test, build, scan, push, deploy. If tests or the Trivy scan fail, nothing is pushed or deployed. Images are tagged with the commit SHA, never 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compose up --build runs the whole stack locally. The backend waits for PostgreSQL to be healthy, runs alembic upgrade head, then starts Uvicorn.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tag is the commit SHA, so the cluster always runs exactly the code that was tested and scanned. The demo video shows a header change going through this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HIGH,CRITICAL with exit-code 1: if a fixable HIGH or CRITICAL CVE is found the job fails before the push step, so a vulnerable image never reaches the registry.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init, plan -out tfplan, apply tfplan, then configure kubectl from the output. Evidence for plan, apply, Console, CLI and destroy is in docs/evidence.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liveness checked the database, a DB blip would restart every healthy backend pod. Readiness checks the DB, so pods only get traffic when they can serve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HPA reads CPU from metrics-server. Requests and limits are set on the backend so the percentage means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788920"/>
            <a:ext cx="8046720" cy="1097280"/>
          </a:xfrm>
          <a:prstGeom prst="rect">
            <a:avLst/>
          </a:prstGeom>
          <a:noFill/>
          <a:ln/>
        </p:spPr>
        <p:txBody>
          <a:bodyPr wrap="square" rtlCol="0"/>
          <a:lstStyle>
            <a:lvl1pPr indent="0" marL="0">
              <a:buNone/>
              <a:defRPr lang="en-US" sz="1800" dirty="0">
                <a:solidFill>
                  <a:schemeClr val="accent4"/>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tirth-alt/stockflow-devops"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lIns="0" tIns="0" rIns="0" bIns="0" rtlCol="0" anchor="b"/>
          <a:lstStyle/>
          <a:p>
            <a:pPr algn="l" indent="0" marL="0">
              <a:buNone/>
            </a:pPr>
            <a:r>
              <a:rPr lang="en-US" sz="4400" b="1" dirty="0">
                <a:solidFill>
                  <a:schemeClr val="bg1"/>
                </a:solidFill>
              </a:rPr>
              <a:t>StockFlow</a:t>
            </a:r>
            <a:endParaRPr lang="en-US" sz="4400" dirty="0"/>
          </a:p>
        </p:txBody>
      </p:sp>
      <p:sp>
        <p:nvSpPr>
          <p:cNvPr id="3" name="Text 0"/>
          <p:cNvSpPr/>
          <p:nvPr>
            <p:ph idx="101" type="body" hasCustomPrompt="1"/>
          </p:nvPr>
        </p:nvSpPr>
        <p:spPr>
          <a:xfrm>
            <a:off x="548640" y="2788920"/>
            <a:ext cx="8046720" cy="1097280"/>
          </a:xfrm>
          <a:prstGeom prst="rect">
            <a:avLst/>
          </a:prstGeom>
          <a:noFill/>
          <a:ln/>
        </p:spPr>
        <p:txBody>
          <a:bodyPr wrap="square" lIns="0" tIns="0" rIns="0" bIns="0" rtlCol="0" anchor="t"/>
          <a:lstStyle/>
          <a:p>
            <a:pPr indent="0" marL="0">
              <a:buNone/>
            </a:pPr>
            <a:r>
              <a:rPr lang="en-US" sz="1800" dirty="0">
                <a:solidFill>
                  <a:schemeClr val="accent4"/>
                </a:solidFill>
              </a:rPr>
              <a:t>An inventory app, shipped the DevOps way</a:t>
            </a:r>
            <a:endParaRPr lang="en-US" sz="1800" dirty="0"/>
          </a:p>
          <a:p>
            <a:pPr indent="0" marL="0">
              <a:buNone/>
            </a:pPr>
            <a:r>
              <a:rPr lang="en-US" sz="1300" dirty="0">
                <a:solidFill>
                  <a:schemeClr val="accent6"/>
                </a:solidFill>
              </a:rPr>
              <a:t>Tests → Docker → CI/CD + Trivy → GHCR → Terraform (AWS EKS) → Helm → Prometheus + Grafana</a:t>
            </a:r>
            <a:endParaRPr lang="en-US" sz="1800" dirty="0"/>
          </a:p>
        </p:txBody>
      </p:sp>
      <p:sp>
        <p:nvSpPr>
          <p:cNvPr id="4" name="Text 2">
            <a:hlinkClick r:id="rId1" tooltip=""/>
          </p:cNvPr>
          <p:cNvSpPr txBox="1"/>
          <p:nvPr/>
        </p:nvSpPr>
        <p:spPr>
          <a:xfrm>
            <a:off x="548640" y="4343400"/>
            <a:ext cx="5486400" cy="365760"/>
          </a:xfrm>
          <a:prstGeom prst="rect">
            <a:avLst/>
          </a:prstGeom>
          <a:noFill/>
          <a:ln/>
        </p:spPr>
        <p:txBody>
          <a:bodyPr wrap="square" lIns="0" tIns="0" rIns="0" bIns="0" rtlCol="0" anchor="ctr"/>
          <a:lstStyle/>
          <a:p>
            <a:pPr indent="0" marL="0">
              <a:buNone/>
            </a:pPr>
            <a:r>
              <a:rPr lang="en-US" sz="130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github.com/tirth-alt/stockflow-devops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The app: a stock room that flags what to reorder</a:t>
            </a:r>
            <a:endParaRPr lang="en-US" sz="2800" dirty="0"/>
          </a:p>
        </p:txBody>
      </p:sp>
      <p:sp>
        <p:nvSpPr>
          <p:cNvPr id="3" name="Marker 1"/>
          <p:cNvSpPr/>
          <p:nvPr/>
        </p:nvSpPr>
        <p:spPr>
          <a:xfrm>
            <a:off x="457200" y="1234440"/>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457200" y="12344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987552" y="1188720"/>
            <a:ext cx="3035808" cy="7315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Products CRUD</a:t>
            </a:r>
            <a:endParaRPr lang="en-US" sz="1500" dirty="0"/>
          </a:p>
          <a:p>
            <a:pPr indent="0" marL="0">
              <a:spcAft>
                <a:spcPts val="200"/>
              </a:spcAft>
              <a:buNone/>
            </a:pPr>
            <a:r>
              <a:rPr lang="en-US" sz="1300" dirty="0">
                <a:solidFill>
                  <a:schemeClr val="tx2"/>
                </a:solidFill>
              </a:rPr>
              <a:t>Name, SKU, category, quantity, reorder level, price, supplier</a:t>
            </a:r>
            <a:endParaRPr lang="en-US" sz="1500" dirty="0"/>
          </a:p>
        </p:txBody>
      </p:sp>
      <p:sp>
        <p:nvSpPr>
          <p:cNvPr id="6" name="Marker 2"/>
          <p:cNvSpPr/>
          <p:nvPr/>
        </p:nvSpPr>
        <p:spPr>
          <a:xfrm>
            <a:off x="457200" y="2057400"/>
            <a:ext cx="384048" cy="384048"/>
          </a:xfrm>
          <a:prstGeom prst="ellipse">
            <a:avLst/>
          </a:prstGeom>
          <a:solidFill>
            <a:schemeClr val="accent1"/>
          </a:solidFill>
          <a:ln w="12700">
            <a:solidFill>
              <a:schemeClr val="accent1"/>
            </a:solidFill>
            <a:prstDash val="solid"/>
          </a:ln>
        </p:spPr>
      </p:sp>
      <p:sp>
        <p:nvSpPr>
          <p:cNvPr id="7" name="Text 5"/>
          <p:cNvSpPr txBox="1"/>
          <p:nvPr/>
        </p:nvSpPr>
        <p:spPr>
          <a:xfrm>
            <a:off x="457200" y="20574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987552" y="2011680"/>
            <a:ext cx="3035808" cy="7315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Restock queue</a:t>
            </a:r>
            <a:endParaRPr lang="en-US" sz="1500" dirty="0"/>
          </a:p>
          <a:p>
            <a:pPr indent="0" marL="0">
              <a:spcAft>
                <a:spcPts val="200"/>
              </a:spcAft>
              <a:buNone/>
            </a:pPr>
            <a:r>
              <a:rPr lang="en-US" sz="1300" dirty="0">
                <a:solidFill>
                  <a:schemeClr val="tx2"/>
                </a:solidFill>
              </a:rPr>
              <a:t>Low stock (qty ≤ reorder level) and out of stock, at the top of the page</a:t>
            </a:r>
            <a:endParaRPr lang="en-US" sz="1500" dirty="0"/>
          </a:p>
        </p:txBody>
      </p:sp>
      <p:sp>
        <p:nvSpPr>
          <p:cNvPr id="9" name="Marker 3"/>
          <p:cNvSpPr/>
          <p:nvPr/>
        </p:nvSpPr>
        <p:spPr>
          <a:xfrm>
            <a:off x="457200" y="2880360"/>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457200" y="28803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987552" y="2834640"/>
            <a:ext cx="3035808" cy="7315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Inventory value</a:t>
            </a:r>
            <a:endParaRPr lang="en-US" sz="1500" dirty="0"/>
          </a:p>
          <a:p>
            <a:pPr indent="0" marL="0">
              <a:spcAft>
                <a:spcPts val="200"/>
              </a:spcAft>
              <a:buNone/>
            </a:pPr>
            <a:r>
              <a:rPr lang="en-US" sz="1300" dirty="0">
                <a:solidFill>
                  <a:schemeClr val="tx2"/>
                </a:solidFill>
              </a:rPr>
              <a:t>Totals from /api/products/stats</a:t>
            </a:r>
            <a:endParaRPr lang="en-US" sz="1500" dirty="0"/>
          </a:p>
        </p:txBody>
      </p:sp>
      <p:sp>
        <p:nvSpPr>
          <p:cNvPr id="12" name="Text 10"/>
          <p:cNvSpPr txBox="1"/>
          <p:nvPr/>
        </p:nvSpPr>
        <p:spPr>
          <a:xfrm>
            <a:off x="457200" y="3931920"/>
            <a:ext cx="3566160" cy="365760"/>
          </a:xfrm>
          <a:prstGeom prst="rect">
            <a:avLst/>
          </a:prstGeom>
          <a:noFill/>
          <a:ln/>
        </p:spPr>
        <p:txBody>
          <a:bodyPr wrap="square" lIns="0" tIns="0" rIns="0" bIns="0" rtlCol="0" anchor="ctr"/>
          <a:lstStyle/>
          <a:p>
            <a:pPr indent="0" marL="0">
              <a:buNone/>
            </a:pPr>
            <a:r>
              <a:rPr lang="en-US" sz="1300" i="1" dirty="0">
                <a:solidFill>
                  <a:schemeClr val="accent2"/>
                </a:solidFill>
              </a:rPr>
              <a:t>React → Nginx → FastAPI → PostgreSQL</a:t>
            </a:r>
            <a:endParaRPr lang="en-US" sz="1300" dirty="0"/>
          </a:p>
        </p:txBody>
      </p:sp>
      <p:sp>
        <p:nvSpPr>
          <p:cNvPr id="13" name="Screenshot frame"/>
          <p:cNvSpPr/>
          <p:nvPr/>
        </p:nvSpPr>
        <p:spPr>
          <a:xfrm>
            <a:off x="4270248" y="1115568"/>
            <a:ext cx="4443984" cy="2909098"/>
          </a:xfrm>
          <a:prstGeom prst="roundRect">
            <a:avLst>
              <a:gd name="adj" fmla="val 2515"/>
            </a:avLst>
          </a:prstGeom>
          <a:solidFill>
            <a:schemeClr val="bg2"/>
          </a:solidFill>
          <a:ln w="9525">
            <a:solidFill>
              <a:schemeClr val="accent4"/>
            </a:solidFill>
            <a:prstDash val="solid"/>
          </a:ln>
          <a:effectLst>
            <a:outerShdw sx="100000" sy="100000" kx="0" ky="0" algn="bl" rotWithShape="0" blurRad="76200" dist="25400" dir="5400000">
              <a:srgbClr val="1F2A30">
                <a:alpha val="18000"/>
              </a:srgbClr>
            </a:outerShdw>
          </a:effectLst>
        </p:spPr>
      </p:sp>
      <p:pic>
        <p:nvPicPr>
          <p:cNvPr id="14" name="StockFlow dashboard screenshot" descr="StockFlow dashboard screenshot">    </p:cNvPr>
          <p:cNvPicPr>
            <a:picLocks noChangeAspect="1"/>
          </p:cNvPicPr>
          <p:nvPr/>
        </p:nvPicPr>
        <p:blipFill>
          <a:blip r:embed="rId1"/>
          <a:stretch>
            <a:fillRect/>
          </a:stretch>
        </p:blipFill>
        <p:spPr>
          <a:xfrm>
            <a:off x="4343400" y="1188720"/>
            <a:ext cx="4297680" cy="2762794"/>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Architecture: git push to a monitored cluster</a:t>
            </a:r>
            <a:endParaRPr lang="en-US" sz="2800" dirty="0"/>
          </a:p>
        </p:txBody>
      </p:sp>
      <p:sp>
        <p:nvSpPr>
          <p:cNvPr id="3" name="Pipeline step git push"/>
          <p:cNvSpPr/>
          <p:nvPr/>
        </p:nvSpPr>
        <p:spPr>
          <a:xfrm>
            <a:off x="457200" y="1188720"/>
            <a:ext cx="1188720" cy="868680"/>
          </a:xfrm>
          <a:prstGeom prst="roundRect">
            <a:avLst>
              <a:gd name="adj" fmla="val 8421"/>
            </a:avLst>
          </a:prstGeom>
          <a:solidFill>
            <a:schemeClr val="tx1"/>
          </a:solidFill>
          <a:ln w="12700">
            <a:solidFill>
              <a:schemeClr val="tx1"/>
            </a:solidFill>
            <a:prstDash val="solid"/>
          </a:ln>
        </p:spPr>
      </p:sp>
      <p:sp>
        <p:nvSpPr>
          <p:cNvPr id="4" name="Text 2"/>
          <p:cNvSpPr txBox="1"/>
          <p:nvPr/>
        </p:nvSpPr>
        <p:spPr>
          <a:xfrm>
            <a:off x="457200" y="1188720"/>
            <a:ext cx="1188720" cy="868680"/>
          </a:xfrm>
          <a:prstGeom prst="rect">
            <a:avLst/>
          </a:prstGeom>
          <a:noFill/>
          <a:ln/>
        </p:spPr>
        <p:txBody>
          <a:bodyPr wrap="square" lIns="25400" tIns="25400" rIns="25400" bIns="25400" rtlCol="0" anchor="ctr"/>
          <a:lstStyle/>
          <a:p>
            <a:pPr algn="ctr" indent="0" marL="0">
              <a:buNone/>
            </a:pPr>
            <a:r>
              <a:rPr lang="en-US" sz="1400" b="1" dirty="0">
                <a:solidFill>
                  <a:schemeClr val="bg1"/>
                </a:solidFill>
              </a:rPr>
              <a:t>git push</a:t>
            </a:r>
            <a:endParaRPr lang="en-US" sz="1400" dirty="0"/>
          </a:p>
          <a:p>
            <a:pPr algn="ctr" indent="0" marL="0">
              <a:buNone/>
            </a:pPr>
            <a:r>
              <a:rPr lang="en-US" sz="1100" dirty="0">
                <a:solidFill>
                  <a:schemeClr val="bg1"/>
                </a:solidFill>
              </a:rPr>
              <a:t>Developer</a:t>
            </a:r>
            <a:endParaRPr lang="en-US" sz="1400" dirty="0"/>
          </a:p>
        </p:txBody>
      </p:sp>
      <p:sp>
        <p:nvSpPr>
          <p:cNvPr id="5" name="Arrow"/>
          <p:cNvSpPr/>
          <p:nvPr/>
        </p:nvSpPr>
        <p:spPr>
          <a:xfrm>
            <a:off x="1673352" y="1517904"/>
            <a:ext cx="164592" cy="201168"/>
          </a:xfrm>
          <a:prstGeom prst="rightArrow">
            <a:avLst/>
          </a:prstGeom>
          <a:solidFill>
            <a:schemeClr val="accent3"/>
          </a:solidFill>
          <a:ln w="12700">
            <a:solidFill>
              <a:schemeClr val="accent3"/>
            </a:solidFill>
            <a:prstDash val="solid"/>
          </a:ln>
        </p:spPr>
      </p:sp>
      <p:sp>
        <p:nvSpPr>
          <p:cNvPr id="6" name="Pipeline step Test"/>
          <p:cNvSpPr/>
          <p:nvPr/>
        </p:nvSpPr>
        <p:spPr>
          <a:xfrm>
            <a:off x="1856232" y="1188720"/>
            <a:ext cx="1188720" cy="868680"/>
          </a:xfrm>
          <a:prstGeom prst="roundRect">
            <a:avLst>
              <a:gd name="adj" fmla="val 8421"/>
            </a:avLst>
          </a:prstGeom>
          <a:solidFill>
            <a:schemeClr val="tx1"/>
          </a:solidFill>
          <a:ln w="12700">
            <a:solidFill>
              <a:schemeClr val="tx1"/>
            </a:solidFill>
            <a:prstDash val="solid"/>
          </a:ln>
        </p:spPr>
      </p:sp>
      <p:sp>
        <p:nvSpPr>
          <p:cNvPr id="7" name="Text 5"/>
          <p:cNvSpPr txBox="1"/>
          <p:nvPr/>
        </p:nvSpPr>
        <p:spPr>
          <a:xfrm>
            <a:off x="1856232" y="1188720"/>
            <a:ext cx="1188720" cy="868680"/>
          </a:xfrm>
          <a:prstGeom prst="rect">
            <a:avLst/>
          </a:prstGeom>
          <a:noFill/>
          <a:ln/>
        </p:spPr>
        <p:txBody>
          <a:bodyPr wrap="square" lIns="25400" tIns="25400" rIns="25400" bIns="25400" rtlCol="0" anchor="ctr"/>
          <a:lstStyle/>
          <a:p>
            <a:pPr algn="ctr" indent="0" marL="0">
              <a:buNone/>
            </a:pPr>
            <a:r>
              <a:rPr lang="en-US" sz="1400" b="1" dirty="0">
                <a:solidFill>
                  <a:schemeClr val="bg1"/>
                </a:solidFill>
              </a:rPr>
              <a:t>Test</a:t>
            </a:r>
            <a:endParaRPr lang="en-US" sz="1400" dirty="0"/>
          </a:p>
          <a:p>
            <a:pPr algn="ctr" indent="0" marL="0">
              <a:buNone/>
            </a:pPr>
            <a:r>
              <a:rPr lang="en-US" sz="1100" dirty="0">
                <a:solidFill>
                  <a:schemeClr val="bg1"/>
                </a:solidFill>
              </a:rPr>
              <a:t>pytest + build</a:t>
            </a:r>
            <a:endParaRPr lang="en-US" sz="1400" dirty="0"/>
          </a:p>
        </p:txBody>
      </p:sp>
      <p:sp>
        <p:nvSpPr>
          <p:cNvPr id="8" name="Arrow"/>
          <p:cNvSpPr/>
          <p:nvPr/>
        </p:nvSpPr>
        <p:spPr>
          <a:xfrm>
            <a:off x="3072384" y="1517904"/>
            <a:ext cx="164592" cy="201168"/>
          </a:xfrm>
          <a:prstGeom prst="rightArrow">
            <a:avLst/>
          </a:prstGeom>
          <a:solidFill>
            <a:schemeClr val="accent3"/>
          </a:solidFill>
          <a:ln w="12700">
            <a:solidFill>
              <a:schemeClr val="accent3"/>
            </a:solidFill>
            <a:prstDash val="solid"/>
          </a:ln>
        </p:spPr>
      </p:sp>
      <p:sp>
        <p:nvSpPr>
          <p:cNvPr id="9" name="Pipeline step Build"/>
          <p:cNvSpPr/>
          <p:nvPr/>
        </p:nvSpPr>
        <p:spPr>
          <a:xfrm>
            <a:off x="3255264" y="1188720"/>
            <a:ext cx="1188720" cy="868680"/>
          </a:xfrm>
          <a:prstGeom prst="roundRect">
            <a:avLst>
              <a:gd name="adj" fmla="val 8421"/>
            </a:avLst>
          </a:prstGeom>
          <a:solidFill>
            <a:schemeClr val="tx1"/>
          </a:solidFill>
          <a:ln w="12700">
            <a:solidFill>
              <a:schemeClr val="tx1"/>
            </a:solidFill>
            <a:prstDash val="solid"/>
          </a:ln>
        </p:spPr>
      </p:sp>
      <p:sp>
        <p:nvSpPr>
          <p:cNvPr id="10" name="Text 8"/>
          <p:cNvSpPr txBox="1"/>
          <p:nvPr/>
        </p:nvSpPr>
        <p:spPr>
          <a:xfrm>
            <a:off x="3255264" y="1188720"/>
            <a:ext cx="1188720" cy="868680"/>
          </a:xfrm>
          <a:prstGeom prst="rect">
            <a:avLst/>
          </a:prstGeom>
          <a:noFill/>
          <a:ln/>
        </p:spPr>
        <p:txBody>
          <a:bodyPr wrap="square" lIns="25400" tIns="25400" rIns="25400" bIns="25400" rtlCol="0" anchor="ctr"/>
          <a:lstStyle/>
          <a:p>
            <a:pPr algn="ctr" indent="0" marL="0">
              <a:buNone/>
            </a:pPr>
            <a:r>
              <a:rPr lang="en-US" sz="1400" b="1" dirty="0">
                <a:solidFill>
                  <a:schemeClr val="bg1"/>
                </a:solidFill>
              </a:rPr>
              <a:t>Build</a:t>
            </a:r>
            <a:endParaRPr lang="en-US" sz="1400" dirty="0"/>
          </a:p>
          <a:p>
            <a:pPr algn="ctr" indent="0" marL="0">
              <a:buNone/>
            </a:pPr>
            <a:r>
              <a:rPr lang="en-US" sz="1100" dirty="0">
                <a:solidFill>
                  <a:schemeClr val="bg1"/>
                </a:solidFill>
              </a:rPr>
              <a:t>2 images, SHA tag</a:t>
            </a:r>
            <a:endParaRPr lang="en-US" sz="1400" dirty="0"/>
          </a:p>
        </p:txBody>
      </p:sp>
      <p:sp>
        <p:nvSpPr>
          <p:cNvPr id="11" name="Arrow"/>
          <p:cNvSpPr/>
          <p:nvPr/>
        </p:nvSpPr>
        <p:spPr>
          <a:xfrm>
            <a:off x="4471416" y="1517904"/>
            <a:ext cx="164592" cy="201168"/>
          </a:xfrm>
          <a:prstGeom prst="rightArrow">
            <a:avLst/>
          </a:prstGeom>
          <a:solidFill>
            <a:schemeClr val="accent3"/>
          </a:solidFill>
          <a:ln w="12700">
            <a:solidFill>
              <a:schemeClr val="accent3"/>
            </a:solidFill>
            <a:prstDash val="solid"/>
          </a:ln>
        </p:spPr>
      </p:sp>
      <p:sp>
        <p:nvSpPr>
          <p:cNvPr id="12" name="Pipeline step Scan"/>
          <p:cNvSpPr/>
          <p:nvPr/>
        </p:nvSpPr>
        <p:spPr>
          <a:xfrm>
            <a:off x="4654296" y="1188720"/>
            <a:ext cx="1188720" cy="868680"/>
          </a:xfrm>
          <a:prstGeom prst="roundRect">
            <a:avLst>
              <a:gd name="adj" fmla="val 8421"/>
            </a:avLst>
          </a:prstGeom>
          <a:solidFill>
            <a:schemeClr val="accent1"/>
          </a:solidFill>
          <a:ln w="12700">
            <a:solidFill>
              <a:schemeClr val="accent1"/>
            </a:solidFill>
            <a:prstDash val="solid"/>
          </a:ln>
        </p:spPr>
      </p:sp>
      <p:sp>
        <p:nvSpPr>
          <p:cNvPr id="13" name="Text 11"/>
          <p:cNvSpPr txBox="1"/>
          <p:nvPr/>
        </p:nvSpPr>
        <p:spPr>
          <a:xfrm>
            <a:off x="4654296" y="1188720"/>
            <a:ext cx="1188720" cy="868680"/>
          </a:xfrm>
          <a:prstGeom prst="rect">
            <a:avLst/>
          </a:prstGeom>
          <a:noFill/>
          <a:ln/>
        </p:spPr>
        <p:txBody>
          <a:bodyPr wrap="square" lIns="25400" tIns="25400" rIns="25400" bIns="25400" rtlCol="0" anchor="ctr"/>
          <a:lstStyle/>
          <a:p>
            <a:pPr algn="ctr" indent="0" marL="0">
              <a:buNone/>
            </a:pPr>
            <a:r>
              <a:rPr lang="en-US" sz="1400" b="1" dirty="0">
                <a:solidFill>
                  <a:schemeClr val="bg1"/>
                </a:solidFill>
              </a:rPr>
              <a:t>Scan</a:t>
            </a:r>
            <a:endParaRPr lang="en-US" sz="1400" dirty="0"/>
          </a:p>
          <a:p>
            <a:pPr algn="ctr" indent="0" marL="0">
              <a:buNone/>
            </a:pPr>
            <a:r>
              <a:rPr lang="en-US" sz="1100" dirty="0">
                <a:solidFill>
                  <a:schemeClr val="bg1"/>
                </a:solidFill>
              </a:rPr>
              <a:t>Trivy gate</a:t>
            </a:r>
            <a:endParaRPr lang="en-US" sz="1400" dirty="0"/>
          </a:p>
        </p:txBody>
      </p:sp>
      <p:sp>
        <p:nvSpPr>
          <p:cNvPr id="14" name="Arrow"/>
          <p:cNvSpPr/>
          <p:nvPr/>
        </p:nvSpPr>
        <p:spPr>
          <a:xfrm>
            <a:off x="5870448" y="1517904"/>
            <a:ext cx="164592" cy="201168"/>
          </a:xfrm>
          <a:prstGeom prst="rightArrow">
            <a:avLst/>
          </a:prstGeom>
          <a:solidFill>
            <a:schemeClr val="accent3"/>
          </a:solidFill>
          <a:ln w="12700">
            <a:solidFill>
              <a:schemeClr val="accent3"/>
            </a:solidFill>
            <a:prstDash val="solid"/>
          </a:ln>
        </p:spPr>
      </p:sp>
      <p:sp>
        <p:nvSpPr>
          <p:cNvPr id="15" name="Pipeline step Push"/>
          <p:cNvSpPr/>
          <p:nvPr/>
        </p:nvSpPr>
        <p:spPr>
          <a:xfrm>
            <a:off x="6053328" y="1188720"/>
            <a:ext cx="1188720" cy="868680"/>
          </a:xfrm>
          <a:prstGeom prst="roundRect">
            <a:avLst>
              <a:gd name="adj" fmla="val 8421"/>
            </a:avLst>
          </a:prstGeom>
          <a:solidFill>
            <a:schemeClr val="tx1"/>
          </a:solidFill>
          <a:ln w="12700">
            <a:solidFill>
              <a:schemeClr val="tx1"/>
            </a:solidFill>
            <a:prstDash val="solid"/>
          </a:ln>
        </p:spPr>
      </p:sp>
      <p:sp>
        <p:nvSpPr>
          <p:cNvPr id="16" name="Text 14"/>
          <p:cNvSpPr txBox="1"/>
          <p:nvPr/>
        </p:nvSpPr>
        <p:spPr>
          <a:xfrm>
            <a:off x="6053328" y="1188720"/>
            <a:ext cx="1188720" cy="868680"/>
          </a:xfrm>
          <a:prstGeom prst="rect">
            <a:avLst/>
          </a:prstGeom>
          <a:noFill/>
          <a:ln/>
        </p:spPr>
        <p:txBody>
          <a:bodyPr wrap="square" lIns="25400" tIns="25400" rIns="25400" bIns="25400" rtlCol="0" anchor="ctr"/>
          <a:lstStyle/>
          <a:p>
            <a:pPr algn="ctr" indent="0" marL="0">
              <a:buNone/>
            </a:pPr>
            <a:r>
              <a:rPr lang="en-US" sz="1400" b="1" dirty="0">
                <a:solidFill>
                  <a:schemeClr val="bg1"/>
                </a:solidFill>
              </a:rPr>
              <a:t>Push</a:t>
            </a:r>
            <a:endParaRPr lang="en-US" sz="1400" dirty="0"/>
          </a:p>
          <a:p>
            <a:pPr algn="ctr" indent="0" marL="0">
              <a:buNone/>
            </a:pPr>
            <a:r>
              <a:rPr lang="en-US" sz="1100" dirty="0">
                <a:solidFill>
                  <a:schemeClr val="bg1"/>
                </a:solidFill>
              </a:rPr>
              <a:t>GHCR</a:t>
            </a:r>
            <a:endParaRPr lang="en-US" sz="1400" dirty="0"/>
          </a:p>
        </p:txBody>
      </p:sp>
      <p:sp>
        <p:nvSpPr>
          <p:cNvPr id="17" name="Arrow"/>
          <p:cNvSpPr/>
          <p:nvPr/>
        </p:nvSpPr>
        <p:spPr>
          <a:xfrm>
            <a:off x="7269480" y="1517904"/>
            <a:ext cx="164592" cy="201168"/>
          </a:xfrm>
          <a:prstGeom prst="rightArrow">
            <a:avLst/>
          </a:prstGeom>
          <a:solidFill>
            <a:schemeClr val="accent3"/>
          </a:solidFill>
          <a:ln w="12700">
            <a:solidFill>
              <a:schemeClr val="accent3"/>
            </a:solidFill>
            <a:prstDash val="solid"/>
          </a:ln>
        </p:spPr>
      </p:sp>
      <p:sp>
        <p:nvSpPr>
          <p:cNvPr id="18" name="Pipeline step Deploy"/>
          <p:cNvSpPr/>
          <p:nvPr/>
        </p:nvSpPr>
        <p:spPr>
          <a:xfrm>
            <a:off x="7452360" y="1188720"/>
            <a:ext cx="1188720" cy="868680"/>
          </a:xfrm>
          <a:prstGeom prst="roundRect">
            <a:avLst>
              <a:gd name="adj" fmla="val 8421"/>
            </a:avLst>
          </a:prstGeom>
          <a:solidFill>
            <a:schemeClr val="tx1"/>
          </a:solidFill>
          <a:ln w="12700">
            <a:solidFill>
              <a:schemeClr val="tx1"/>
            </a:solidFill>
            <a:prstDash val="solid"/>
          </a:ln>
        </p:spPr>
      </p:sp>
      <p:sp>
        <p:nvSpPr>
          <p:cNvPr id="19" name="Text 17"/>
          <p:cNvSpPr txBox="1"/>
          <p:nvPr/>
        </p:nvSpPr>
        <p:spPr>
          <a:xfrm>
            <a:off x="7452360" y="1188720"/>
            <a:ext cx="1188720" cy="868680"/>
          </a:xfrm>
          <a:prstGeom prst="rect">
            <a:avLst/>
          </a:prstGeom>
          <a:noFill/>
          <a:ln/>
        </p:spPr>
        <p:txBody>
          <a:bodyPr wrap="square" lIns="25400" tIns="25400" rIns="25400" bIns="25400" rtlCol="0" anchor="ctr"/>
          <a:lstStyle/>
          <a:p>
            <a:pPr algn="ctr" indent="0" marL="0">
              <a:buNone/>
            </a:pPr>
            <a:r>
              <a:rPr lang="en-US" sz="1400" b="1" dirty="0">
                <a:solidFill>
                  <a:schemeClr val="bg1"/>
                </a:solidFill>
              </a:rPr>
              <a:t>Deploy</a:t>
            </a:r>
            <a:endParaRPr lang="en-US" sz="1400" dirty="0"/>
          </a:p>
          <a:p>
            <a:pPr algn="ctr" indent="0" marL="0">
              <a:buNone/>
            </a:pPr>
            <a:r>
              <a:rPr lang="en-US" sz="1100" dirty="0">
                <a:solidFill>
                  <a:schemeClr val="bg1"/>
                </a:solidFill>
              </a:rPr>
              <a:t>helm upgrade</a:t>
            </a:r>
            <a:endParaRPr lang="en-US" sz="1400" dirty="0"/>
          </a:p>
        </p:txBody>
      </p:sp>
      <p:sp>
        <p:nvSpPr>
          <p:cNvPr id="20" name="Cluster"/>
          <p:cNvSpPr/>
          <p:nvPr/>
        </p:nvSpPr>
        <p:spPr>
          <a:xfrm>
            <a:off x="457200" y="2377440"/>
            <a:ext cx="5486400" cy="2240280"/>
          </a:xfrm>
          <a:prstGeom prst="roundRect">
            <a:avLst>
              <a:gd name="adj" fmla="val 3265"/>
            </a:avLst>
          </a:prstGeom>
          <a:solidFill>
            <a:schemeClr val="bg2"/>
          </a:solidFill>
          <a:ln w="12700">
            <a:solidFill>
              <a:schemeClr val="accent4"/>
            </a:solidFill>
            <a:prstDash val="solid"/>
          </a:ln>
        </p:spPr>
      </p:sp>
      <p:sp>
        <p:nvSpPr>
          <p:cNvPr id="21" name="Text 19"/>
          <p:cNvSpPr txBox="1"/>
          <p:nvPr/>
        </p:nvSpPr>
        <p:spPr>
          <a:xfrm>
            <a:off x="640080" y="2468880"/>
            <a:ext cx="5120640" cy="320040"/>
          </a:xfrm>
          <a:prstGeom prst="rect">
            <a:avLst/>
          </a:prstGeom>
          <a:noFill/>
          <a:ln/>
        </p:spPr>
        <p:txBody>
          <a:bodyPr wrap="square" lIns="0" tIns="0" rIns="0" bIns="0" rtlCol="0" anchor="ctr"/>
          <a:lstStyle/>
          <a:p>
            <a:pPr indent="0" marL="0">
              <a:buNone/>
            </a:pPr>
            <a:r>
              <a:rPr lang="en-US" sz="1200" b="1" dirty="0">
                <a:solidFill>
                  <a:schemeClr val="tx2"/>
                </a:solidFill>
              </a:rPr>
              <a:t>Kubernetes · namespace stockflow · installed with Helm</a:t>
            </a:r>
            <a:endParaRPr lang="en-US" sz="1200" dirty="0"/>
          </a:p>
        </p:txBody>
      </p:sp>
      <p:sp>
        <p:nvSpPr>
          <p:cNvPr id="22" name="Ingress (nginx)"/>
          <p:cNvSpPr/>
          <p:nvPr/>
        </p:nvSpPr>
        <p:spPr>
          <a:xfrm>
            <a:off x="640080" y="2880360"/>
            <a:ext cx="2514600" cy="713232"/>
          </a:xfrm>
          <a:prstGeom prst="roundRect">
            <a:avLst>
              <a:gd name="adj" fmla="val 7692"/>
            </a:avLst>
          </a:prstGeom>
          <a:solidFill>
            <a:schemeClr val="bg1"/>
          </a:solidFill>
          <a:ln w="12700">
            <a:solidFill>
              <a:schemeClr val="accent4"/>
            </a:solidFill>
            <a:prstDash val="solid"/>
          </a:ln>
        </p:spPr>
      </p:sp>
      <p:sp>
        <p:nvSpPr>
          <p:cNvPr id="23" name="Text 21"/>
          <p:cNvSpPr txBox="1"/>
          <p:nvPr/>
        </p:nvSpPr>
        <p:spPr>
          <a:xfrm>
            <a:off x="749808" y="2880360"/>
            <a:ext cx="2331720" cy="713232"/>
          </a:xfrm>
          <a:prstGeom prst="rect">
            <a:avLst/>
          </a:prstGeom>
          <a:noFill/>
          <a:ln/>
        </p:spPr>
        <p:txBody>
          <a:bodyPr wrap="square" lIns="0" tIns="0" rIns="0" bIns="0" rtlCol="0" anchor="ctr"/>
          <a:lstStyle/>
          <a:p>
            <a:pPr indent="0" marL="0">
              <a:buNone/>
            </a:pPr>
            <a:r>
              <a:rPr lang="en-US" sz="1300" b="1" dirty="0">
                <a:solidFill>
                  <a:schemeClr val="tx1"/>
                </a:solidFill>
              </a:rPr>
              <a:t>Ingress (nginx)</a:t>
            </a:r>
            <a:endParaRPr lang="en-US" sz="1300" dirty="0"/>
          </a:p>
          <a:p>
            <a:pPr indent="0" marL="0">
              <a:buNone/>
            </a:pPr>
            <a:r>
              <a:rPr lang="en-US" sz="1100" dirty="0">
                <a:solidFill>
                  <a:schemeClr val="tx2"/>
                </a:solidFill>
              </a:rPr>
              <a:t>stockflow.local</a:t>
            </a:r>
            <a:endParaRPr lang="en-US" sz="1300" dirty="0"/>
          </a:p>
        </p:txBody>
      </p:sp>
      <p:sp>
        <p:nvSpPr>
          <p:cNvPr id="24" name="frontend ×2"/>
          <p:cNvSpPr/>
          <p:nvPr/>
        </p:nvSpPr>
        <p:spPr>
          <a:xfrm>
            <a:off x="3246120" y="2880360"/>
            <a:ext cx="2514600" cy="713232"/>
          </a:xfrm>
          <a:prstGeom prst="roundRect">
            <a:avLst>
              <a:gd name="adj" fmla="val 7692"/>
            </a:avLst>
          </a:prstGeom>
          <a:solidFill>
            <a:schemeClr val="bg1"/>
          </a:solidFill>
          <a:ln w="12700">
            <a:solidFill>
              <a:schemeClr val="accent4"/>
            </a:solidFill>
            <a:prstDash val="solid"/>
          </a:ln>
        </p:spPr>
      </p:sp>
      <p:sp>
        <p:nvSpPr>
          <p:cNvPr id="25" name="Text 23"/>
          <p:cNvSpPr txBox="1"/>
          <p:nvPr/>
        </p:nvSpPr>
        <p:spPr>
          <a:xfrm>
            <a:off x="3355848" y="2880360"/>
            <a:ext cx="2331720" cy="713232"/>
          </a:xfrm>
          <a:prstGeom prst="rect">
            <a:avLst/>
          </a:prstGeom>
          <a:noFill/>
          <a:ln/>
        </p:spPr>
        <p:txBody>
          <a:bodyPr wrap="square" lIns="0" tIns="0" rIns="0" bIns="0" rtlCol="0" anchor="ctr"/>
          <a:lstStyle/>
          <a:p>
            <a:pPr indent="0" marL="0">
              <a:buNone/>
            </a:pPr>
            <a:r>
              <a:rPr lang="en-US" sz="1300" b="1" dirty="0">
                <a:solidFill>
                  <a:schemeClr val="tx1"/>
                </a:solidFill>
              </a:rPr>
              <a:t>frontend ×2</a:t>
            </a:r>
            <a:endParaRPr lang="en-US" sz="1300" dirty="0"/>
          </a:p>
          <a:p>
            <a:pPr indent="0" marL="0">
              <a:buNone/>
            </a:pPr>
            <a:r>
              <a:rPr lang="en-US" sz="1100" dirty="0">
                <a:solidFill>
                  <a:schemeClr val="tx2"/>
                </a:solidFill>
              </a:rPr>
              <a:t>Nginx + React  ·  /</a:t>
            </a:r>
            <a:endParaRPr lang="en-US" sz="1300" dirty="0"/>
          </a:p>
        </p:txBody>
      </p:sp>
      <p:sp>
        <p:nvSpPr>
          <p:cNvPr id="26" name="backend 2–6"/>
          <p:cNvSpPr/>
          <p:nvPr/>
        </p:nvSpPr>
        <p:spPr>
          <a:xfrm>
            <a:off x="640080" y="3749040"/>
            <a:ext cx="2514600" cy="713232"/>
          </a:xfrm>
          <a:prstGeom prst="roundRect">
            <a:avLst>
              <a:gd name="adj" fmla="val 7692"/>
            </a:avLst>
          </a:prstGeom>
          <a:solidFill>
            <a:schemeClr val="bg1"/>
          </a:solidFill>
          <a:ln w="12700">
            <a:solidFill>
              <a:schemeClr val="accent4"/>
            </a:solidFill>
            <a:prstDash val="solid"/>
          </a:ln>
        </p:spPr>
      </p:sp>
      <p:sp>
        <p:nvSpPr>
          <p:cNvPr id="27" name="Text 25"/>
          <p:cNvSpPr txBox="1"/>
          <p:nvPr/>
        </p:nvSpPr>
        <p:spPr>
          <a:xfrm>
            <a:off x="749808" y="3749040"/>
            <a:ext cx="2331720" cy="713232"/>
          </a:xfrm>
          <a:prstGeom prst="rect">
            <a:avLst/>
          </a:prstGeom>
          <a:noFill/>
          <a:ln/>
        </p:spPr>
        <p:txBody>
          <a:bodyPr wrap="square" lIns="0" tIns="0" rIns="0" bIns="0" rtlCol="0" anchor="ctr"/>
          <a:lstStyle/>
          <a:p>
            <a:pPr indent="0" marL="0">
              <a:buNone/>
            </a:pPr>
            <a:r>
              <a:rPr lang="en-US" sz="1300" b="1" dirty="0">
                <a:solidFill>
                  <a:schemeClr val="tx1"/>
                </a:solidFill>
              </a:rPr>
              <a:t>backend 2–6</a:t>
            </a:r>
            <a:endParaRPr lang="en-US" sz="1300" dirty="0"/>
          </a:p>
          <a:p>
            <a:pPr indent="0" marL="0">
              <a:buNone/>
            </a:pPr>
            <a:r>
              <a:rPr lang="en-US" sz="1100" dirty="0">
                <a:solidFill>
                  <a:schemeClr val="tx2"/>
                </a:solidFill>
              </a:rPr>
              <a:t>FastAPI  ·  /api  ·  HPA 60% CPU</a:t>
            </a:r>
            <a:endParaRPr lang="en-US" sz="1300" dirty="0"/>
          </a:p>
        </p:txBody>
      </p:sp>
      <p:sp>
        <p:nvSpPr>
          <p:cNvPr id="28" name="postgres"/>
          <p:cNvSpPr/>
          <p:nvPr/>
        </p:nvSpPr>
        <p:spPr>
          <a:xfrm>
            <a:off x="3246120" y="3749040"/>
            <a:ext cx="2514600" cy="713232"/>
          </a:xfrm>
          <a:prstGeom prst="roundRect">
            <a:avLst>
              <a:gd name="adj" fmla="val 7692"/>
            </a:avLst>
          </a:prstGeom>
          <a:solidFill>
            <a:schemeClr val="bg1"/>
          </a:solidFill>
          <a:ln w="12700">
            <a:solidFill>
              <a:schemeClr val="accent4"/>
            </a:solidFill>
            <a:prstDash val="solid"/>
          </a:ln>
        </p:spPr>
      </p:sp>
      <p:sp>
        <p:nvSpPr>
          <p:cNvPr id="29" name="Text 27"/>
          <p:cNvSpPr txBox="1"/>
          <p:nvPr/>
        </p:nvSpPr>
        <p:spPr>
          <a:xfrm>
            <a:off x="3355848" y="3749040"/>
            <a:ext cx="2331720" cy="713232"/>
          </a:xfrm>
          <a:prstGeom prst="rect">
            <a:avLst/>
          </a:prstGeom>
          <a:noFill/>
          <a:ln/>
        </p:spPr>
        <p:txBody>
          <a:bodyPr wrap="square" lIns="0" tIns="0" rIns="0" bIns="0" rtlCol="0" anchor="ctr"/>
          <a:lstStyle/>
          <a:p>
            <a:pPr indent="0" marL="0">
              <a:buNone/>
            </a:pPr>
            <a:r>
              <a:rPr lang="en-US" sz="1300" b="1" dirty="0">
                <a:solidFill>
                  <a:schemeClr val="tx1"/>
                </a:solidFill>
              </a:rPr>
              <a:t>postgres</a:t>
            </a:r>
            <a:endParaRPr lang="en-US" sz="1300" dirty="0"/>
          </a:p>
          <a:p>
            <a:pPr indent="0" marL="0">
              <a:buNone/>
            </a:pPr>
            <a:r>
              <a:rPr lang="en-US" sz="1100" dirty="0">
                <a:solidFill>
                  <a:schemeClr val="tx2"/>
                </a:solidFill>
              </a:rPr>
              <a:t>PostgreSQL 16 + PVC</a:t>
            </a:r>
            <a:endParaRPr lang="en-US" sz="1300" dirty="0"/>
          </a:p>
        </p:txBody>
      </p:sp>
      <p:sp>
        <p:nvSpPr>
          <p:cNvPr id="30" name="Text 28"/>
          <p:cNvSpPr txBox="1"/>
          <p:nvPr/>
        </p:nvSpPr>
        <p:spPr>
          <a:xfrm>
            <a:off x="6263640" y="2377440"/>
            <a:ext cx="2423160" cy="2240280"/>
          </a:xfrm>
          <a:prstGeom prst="rect">
            <a:avLst/>
          </a:prstGeom>
          <a:noFill/>
          <a:ln/>
        </p:spPr>
        <p:txBody>
          <a:bodyPr wrap="square" lIns="0" tIns="0" rIns="0" bIns="0" rtlCol="0" anchor="t"/>
          <a:lstStyle/>
          <a:p>
            <a:pPr indent="0" marL="0">
              <a:buNone/>
            </a:pPr>
            <a:r>
              <a:rPr lang="en-US" sz="1400" b="1" dirty="0">
                <a:solidFill>
                  <a:schemeClr val="tx1"/>
                </a:solidFill>
              </a:rPr>
              <a:t>Terraform → AWS</a:t>
            </a:r>
            <a:endParaRPr lang="en-US" sz="1400" dirty="0"/>
          </a:p>
          <a:p>
            <a:pPr indent="0" marL="0">
              <a:buNone/>
            </a:pPr>
            <a:r>
              <a:rPr lang="en-US" sz="1200" dirty="0">
                <a:solidFill>
                  <a:schemeClr val="tx2"/>
                </a:solidFill>
              </a:rPr>
              <a:t>VPC (2 public + 2 private subnets, NAT) + EKS 1.36 + managed node group</a:t>
            </a:r>
            <a:endParaRPr lang="en-US" sz="1400" dirty="0"/>
          </a:p>
          <a:p>
            <a:pPr indent="0" marL="0">
              <a:buNone/>
            </a:pPr>
            <a:r>
              <a:rPr lang="en-US" sz="800" dirty="0">
                <a:solidFill>
                  <a:srgbClr val="000000"/>
                </a:solidFill>
              </a:rPr>
              <a:t> </a:t>
            </a:r>
            <a:endParaRPr lang="en-US" sz="1400" dirty="0"/>
          </a:p>
          <a:p>
            <a:pPr indent="0" marL="0">
              <a:buNone/>
            </a:pPr>
            <a:r>
              <a:rPr lang="en-US" sz="1400" b="1" dirty="0">
                <a:solidFill>
                  <a:schemeClr val="tx1"/>
                </a:solidFill>
              </a:rPr>
              <a:t>Observability</a:t>
            </a:r>
            <a:endParaRPr lang="en-US" sz="1400" dirty="0"/>
          </a:p>
          <a:p>
            <a:pPr indent="0" marL="0">
              <a:buNone/>
            </a:pPr>
            <a:r>
              <a:rPr lang="en-US" sz="1200" dirty="0">
                <a:solidFill>
                  <a:schemeClr val="tx2"/>
                </a:solidFill>
              </a:rPr>
              <a:t>Prometheus scrapes /metrics via a ServiceMonitor; Grafana shows the StockFlow API dashboard</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Tech stack</a:t>
            </a:r>
            <a:endParaRPr lang="en-US" sz="2800" dirty="0"/>
          </a:p>
        </p:txBody>
      </p:sp>
      <p:sp>
        <p:nvSpPr>
          <p:cNvPr id="3" name="Stack Frontend"/>
          <p:cNvSpPr/>
          <p:nvPr/>
        </p:nvSpPr>
        <p:spPr>
          <a:xfrm>
            <a:off x="457200" y="1188720"/>
            <a:ext cx="2606040" cy="749808"/>
          </a:xfrm>
          <a:prstGeom prst="roundRect">
            <a:avLst>
              <a:gd name="adj" fmla="val 7317"/>
            </a:avLst>
          </a:prstGeom>
          <a:solidFill>
            <a:schemeClr val="bg2"/>
          </a:solidFill>
          <a:ln w="12700">
            <a:solidFill>
              <a:schemeClr val="bg2"/>
            </a:solidFill>
            <a:prstDash val="solid"/>
          </a:ln>
        </p:spPr>
      </p:sp>
      <p:sp>
        <p:nvSpPr>
          <p:cNvPr id="4" name="Text 2"/>
          <p:cNvSpPr txBox="1"/>
          <p:nvPr/>
        </p:nvSpPr>
        <p:spPr>
          <a:xfrm>
            <a:off x="594360" y="1188720"/>
            <a:ext cx="2377440" cy="749808"/>
          </a:xfrm>
          <a:prstGeom prst="rect">
            <a:avLst/>
          </a:prstGeom>
          <a:noFill/>
          <a:ln/>
        </p:spPr>
        <p:txBody>
          <a:bodyPr wrap="square" lIns="0" tIns="0" rIns="0" bIns="0" rtlCol="0" anchor="ctr"/>
          <a:lstStyle/>
          <a:p>
            <a:pPr indent="0" marL="0">
              <a:buNone/>
            </a:pPr>
            <a:r>
              <a:rPr lang="en-US" sz="1400" b="1" dirty="0">
                <a:solidFill>
                  <a:schemeClr val="accent1"/>
                </a:solidFill>
              </a:rPr>
              <a:t>Frontend</a:t>
            </a:r>
            <a:endParaRPr lang="en-US" sz="1400" dirty="0"/>
          </a:p>
          <a:p>
            <a:pPr indent="0" marL="0">
              <a:buNone/>
            </a:pPr>
            <a:r>
              <a:rPr lang="en-US" sz="1200" dirty="0">
                <a:solidFill>
                  <a:schemeClr val="tx1"/>
                </a:solidFill>
              </a:rPr>
              <a:t>React 19 + Vite, served by non-root Nginx</a:t>
            </a:r>
            <a:endParaRPr lang="en-US" sz="1400" dirty="0"/>
          </a:p>
        </p:txBody>
      </p:sp>
      <p:sp>
        <p:nvSpPr>
          <p:cNvPr id="5" name="Stack Backend"/>
          <p:cNvSpPr/>
          <p:nvPr/>
        </p:nvSpPr>
        <p:spPr>
          <a:xfrm>
            <a:off x="3227832" y="1188720"/>
            <a:ext cx="2606040" cy="749808"/>
          </a:xfrm>
          <a:prstGeom prst="roundRect">
            <a:avLst>
              <a:gd name="adj" fmla="val 7317"/>
            </a:avLst>
          </a:prstGeom>
          <a:solidFill>
            <a:schemeClr val="bg2"/>
          </a:solidFill>
          <a:ln w="12700">
            <a:solidFill>
              <a:schemeClr val="bg2"/>
            </a:solidFill>
            <a:prstDash val="solid"/>
          </a:ln>
        </p:spPr>
      </p:sp>
      <p:sp>
        <p:nvSpPr>
          <p:cNvPr id="6" name="Text 4"/>
          <p:cNvSpPr txBox="1"/>
          <p:nvPr/>
        </p:nvSpPr>
        <p:spPr>
          <a:xfrm>
            <a:off x="3364992" y="1188720"/>
            <a:ext cx="2377440" cy="749808"/>
          </a:xfrm>
          <a:prstGeom prst="rect">
            <a:avLst/>
          </a:prstGeom>
          <a:noFill/>
          <a:ln/>
        </p:spPr>
        <p:txBody>
          <a:bodyPr wrap="square" lIns="0" tIns="0" rIns="0" bIns="0" rtlCol="0" anchor="ctr"/>
          <a:lstStyle/>
          <a:p>
            <a:pPr indent="0" marL="0">
              <a:buNone/>
            </a:pPr>
            <a:r>
              <a:rPr lang="en-US" sz="1400" b="1" dirty="0">
                <a:solidFill>
                  <a:schemeClr val="accent1"/>
                </a:solidFill>
              </a:rPr>
              <a:t>Backend</a:t>
            </a:r>
            <a:endParaRPr lang="en-US" sz="1400" dirty="0"/>
          </a:p>
          <a:p>
            <a:pPr indent="0" marL="0">
              <a:buNone/>
            </a:pPr>
            <a:r>
              <a:rPr lang="en-US" sz="1200" dirty="0">
                <a:solidFill>
                  <a:schemeClr val="tx1"/>
                </a:solidFill>
              </a:rPr>
              <a:t>FastAPI, SQLAlchemy 2, Pydantic</a:t>
            </a:r>
            <a:endParaRPr lang="en-US" sz="1400" dirty="0"/>
          </a:p>
        </p:txBody>
      </p:sp>
      <p:sp>
        <p:nvSpPr>
          <p:cNvPr id="7" name="Stack Database"/>
          <p:cNvSpPr/>
          <p:nvPr/>
        </p:nvSpPr>
        <p:spPr>
          <a:xfrm>
            <a:off x="5998464" y="1188720"/>
            <a:ext cx="2606040" cy="749808"/>
          </a:xfrm>
          <a:prstGeom prst="roundRect">
            <a:avLst>
              <a:gd name="adj" fmla="val 7317"/>
            </a:avLst>
          </a:prstGeom>
          <a:solidFill>
            <a:schemeClr val="bg2"/>
          </a:solidFill>
          <a:ln w="12700">
            <a:solidFill>
              <a:schemeClr val="bg2"/>
            </a:solidFill>
            <a:prstDash val="solid"/>
          </a:ln>
        </p:spPr>
      </p:sp>
      <p:sp>
        <p:nvSpPr>
          <p:cNvPr id="8" name="Text 6"/>
          <p:cNvSpPr txBox="1"/>
          <p:nvPr/>
        </p:nvSpPr>
        <p:spPr>
          <a:xfrm>
            <a:off x="6135624" y="1188720"/>
            <a:ext cx="2377440" cy="749808"/>
          </a:xfrm>
          <a:prstGeom prst="rect">
            <a:avLst/>
          </a:prstGeom>
          <a:noFill/>
          <a:ln/>
        </p:spPr>
        <p:txBody>
          <a:bodyPr wrap="square" lIns="0" tIns="0" rIns="0" bIns="0" rtlCol="0" anchor="ctr"/>
          <a:lstStyle/>
          <a:p>
            <a:pPr indent="0" marL="0">
              <a:buNone/>
            </a:pPr>
            <a:r>
              <a:rPr lang="en-US" sz="1400" b="1" dirty="0">
                <a:solidFill>
                  <a:schemeClr val="accent1"/>
                </a:solidFill>
              </a:rPr>
              <a:t>Database</a:t>
            </a:r>
            <a:endParaRPr lang="en-US" sz="1400" dirty="0"/>
          </a:p>
          <a:p>
            <a:pPr indent="0" marL="0">
              <a:buNone/>
            </a:pPr>
            <a:r>
              <a:rPr lang="en-US" sz="1200" dirty="0">
                <a:solidFill>
                  <a:schemeClr val="tx1"/>
                </a:solidFill>
              </a:rPr>
              <a:t>PostgreSQL 16, Alembic migrations</a:t>
            </a:r>
            <a:endParaRPr lang="en-US" sz="1400" dirty="0"/>
          </a:p>
        </p:txBody>
      </p:sp>
      <p:sp>
        <p:nvSpPr>
          <p:cNvPr id="9" name="Stack Tests"/>
          <p:cNvSpPr/>
          <p:nvPr/>
        </p:nvSpPr>
        <p:spPr>
          <a:xfrm>
            <a:off x="457200" y="2084832"/>
            <a:ext cx="2606040" cy="749808"/>
          </a:xfrm>
          <a:prstGeom prst="roundRect">
            <a:avLst>
              <a:gd name="adj" fmla="val 7317"/>
            </a:avLst>
          </a:prstGeom>
          <a:solidFill>
            <a:schemeClr val="bg2"/>
          </a:solidFill>
          <a:ln w="12700">
            <a:solidFill>
              <a:schemeClr val="bg2"/>
            </a:solidFill>
            <a:prstDash val="solid"/>
          </a:ln>
        </p:spPr>
      </p:sp>
      <p:sp>
        <p:nvSpPr>
          <p:cNvPr id="10" name="Text 8"/>
          <p:cNvSpPr txBox="1"/>
          <p:nvPr/>
        </p:nvSpPr>
        <p:spPr>
          <a:xfrm>
            <a:off x="594360" y="2084832"/>
            <a:ext cx="2377440" cy="749808"/>
          </a:xfrm>
          <a:prstGeom prst="rect">
            <a:avLst/>
          </a:prstGeom>
          <a:noFill/>
          <a:ln/>
        </p:spPr>
        <p:txBody>
          <a:bodyPr wrap="square" lIns="0" tIns="0" rIns="0" bIns="0" rtlCol="0" anchor="ctr"/>
          <a:lstStyle/>
          <a:p>
            <a:pPr indent="0" marL="0">
              <a:buNone/>
            </a:pPr>
            <a:r>
              <a:rPr lang="en-US" sz="1400" b="1" dirty="0">
                <a:solidFill>
                  <a:schemeClr val="accent1"/>
                </a:solidFill>
              </a:rPr>
              <a:t>Tests</a:t>
            </a:r>
            <a:endParaRPr lang="en-US" sz="1400" dirty="0"/>
          </a:p>
          <a:p>
            <a:pPr indent="0" marL="0">
              <a:buNone/>
            </a:pPr>
            <a:r>
              <a:rPr lang="en-US" sz="1200" dirty="0">
                <a:solidFill>
                  <a:schemeClr val="tx1"/>
                </a:solidFill>
              </a:rPr>
              <a:t>pytest, in-memory SQLite (11 passing)</a:t>
            </a:r>
            <a:endParaRPr lang="en-US" sz="1400" dirty="0"/>
          </a:p>
        </p:txBody>
      </p:sp>
      <p:sp>
        <p:nvSpPr>
          <p:cNvPr id="11" name="Stack Containers"/>
          <p:cNvSpPr/>
          <p:nvPr/>
        </p:nvSpPr>
        <p:spPr>
          <a:xfrm>
            <a:off x="3227832" y="2084832"/>
            <a:ext cx="2606040" cy="749808"/>
          </a:xfrm>
          <a:prstGeom prst="roundRect">
            <a:avLst>
              <a:gd name="adj" fmla="val 7317"/>
            </a:avLst>
          </a:prstGeom>
          <a:solidFill>
            <a:schemeClr val="bg2"/>
          </a:solidFill>
          <a:ln w="12700">
            <a:solidFill>
              <a:schemeClr val="bg2"/>
            </a:solidFill>
            <a:prstDash val="solid"/>
          </a:ln>
        </p:spPr>
      </p:sp>
      <p:sp>
        <p:nvSpPr>
          <p:cNvPr id="12" name="Text 10"/>
          <p:cNvSpPr txBox="1"/>
          <p:nvPr/>
        </p:nvSpPr>
        <p:spPr>
          <a:xfrm>
            <a:off x="3364992" y="2084832"/>
            <a:ext cx="2377440" cy="749808"/>
          </a:xfrm>
          <a:prstGeom prst="rect">
            <a:avLst/>
          </a:prstGeom>
          <a:noFill/>
          <a:ln/>
        </p:spPr>
        <p:txBody>
          <a:bodyPr wrap="square" lIns="0" tIns="0" rIns="0" bIns="0" rtlCol="0" anchor="ctr"/>
          <a:lstStyle/>
          <a:p>
            <a:pPr indent="0" marL="0">
              <a:buNone/>
            </a:pPr>
            <a:r>
              <a:rPr lang="en-US" sz="1400" b="1" dirty="0">
                <a:solidFill>
                  <a:schemeClr val="accent1"/>
                </a:solidFill>
              </a:rPr>
              <a:t>Containers</a:t>
            </a:r>
            <a:endParaRPr lang="en-US" sz="1400" dirty="0"/>
          </a:p>
          <a:p>
            <a:pPr indent="0" marL="0">
              <a:buNone/>
            </a:pPr>
            <a:r>
              <a:rPr lang="en-US" sz="1200" dirty="0">
                <a:solidFill>
                  <a:schemeClr val="tx1"/>
                </a:solidFill>
              </a:rPr>
              <a:t>Dockerfiles + Docker Compose</a:t>
            </a:r>
            <a:endParaRPr lang="en-US" sz="1400" dirty="0"/>
          </a:p>
        </p:txBody>
      </p:sp>
      <p:sp>
        <p:nvSpPr>
          <p:cNvPr id="13" name="Stack CI/CD"/>
          <p:cNvSpPr/>
          <p:nvPr/>
        </p:nvSpPr>
        <p:spPr>
          <a:xfrm>
            <a:off x="5998464" y="2084832"/>
            <a:ext cx="2606040" cy="749808"/>
          </a:xfrm>
          <a:prstGeom prst="roundRect">
            <a:avLst>
              <a:gd name="adj" fmla="val 7317"/>
            </a:avLst>
          </a:prstGeom>
          <a:solidFill>
            <a:schemeClr val="bg2"/>
          </a:solidFill>
          <a:ln w="12700">
            <a:solidFill>
              <a:schemeClr val="bg2"/>
            </a:solidFill>
            <a:prstDash val="solid"/>
          </a:ln>
        </p:spPr>
      </p:sp>
      <p:sp>
        <p:nvSpPr>
          <p:cNvPr id="14" name="Text 12"/>
          <p:cNvSpPr txBox="1"/>
          <p:nvPr/>
        </p:nvSpPr>
        <p:spPr>
          <a:xfrm>
            <a:off x="6135624" y="2084832"/>
            <a:ext cx="2377440" cy="749808"/>
          </a:xfrm>
          <a:prstGeom prst="rect">
            <a:avLst/>
          </a:prstGeom>
          <a:noFill/>
          <a:ln/>
        </p:spPr>
        <p:txBody>
          <a:bodyPr wrap="square" lIns="0" tIns="0" rIns="0" bIns="0" rtlCol="0" anchor="ctr"/>
          <a:lstStyle/>
          <a:p>
            <a:pPr indent="0" marL="0">
              <a:buNone/>
            </a:pPr>
            <a:r>
              <a:rPr lang="en-US" sz="1400" b="1" dirty="0">
                <a:solidFill>
                  <a:schemeClr val="accent1"/>
                </a:solidFill>
              </a:rPr>
              <a:t>CI/CD</a:t>
            </a:r>
            <a:endParaRPr lang="en-US" sz="1400" dirty="0"/>
          </a:p>
          <a:p>
            <a:pPr indent="0" marL="0">
              <a:buNone/>
            </a:pPr>
            <a:r>
              <a:rPr lang="en-US" sz="1200" dirty="0">
                <a:solidFill>
                  <a:schemeClr val="tx1"/>
                </a:solidFill>
              </a:rPr>
              <a:t>GitHub Actions</a:t>
            </a:r>
            <a:endParaRPr lang="en-US" sz="1400" dirty="0"/>
          </a:p>
        </p:txBody>
      </p:sp>
      <p:sp>
        <p:nvSpPr>
          <p:cNvPr id="15" name="Stack Security"/>
          <p:cNvSpPr/>
          <p:nvPr/>
        </p:nvSpPr>
        <p:spPr>
          <a:xfrm>
            <a:off x="457200" y="2980944"/>
            <a:ext cx="2606040" cy="749808"/>
          </a:xfrm>
          <a:prstGeom prst="roundRect">
            <a:avLst>
              <a:gd name="adj" fmla="val 7317"/>
            </a:avLst>
          </a:prstGeom>
          <a:solidFill>
            <a:schemeClr val="bg2"/>
          </a:solidFill>
          <a:ln w="12700">
            <a:solidFill>
              <a:schemeClr val="bg2"/>
            </a:solidFill>
            <a:prstDash val="solid"/>
          </a:ln>
        </p:spPr>
      </p:sp>
      <p:sp>
        <p:nvSpPr>
          <p:cNvPr id="16" name="Text 14"/>
          <p:cNvSpPr txBox="1"/>
          <p:nvPr/>
        </p:nvSpPr>
        <p:spPr>
          <a:xfrm>
            <a:off x="594360" y="2980944"/>
            <a:ext cx="2377440" cy="749808"/>
          </a:xfrm>
          <a:prstGeom prst="rect">
            <a:avLst/>
          </a:prstGeom>
          <a:noFill/>
          <a:ln/>
        </p:spPr>
        <p:txBody>
          <a:bodyPr wrap="square" lIns="0" tIns="0" rIns="0" bIns="0" rtlCol="0" anchor="ctr"/>
          <a:lstStyle/>
          <a:p>
            <a:pPr indent="0" marL="0">
              <a:buNone/>
            </a:pPr>
            <a:r>
              <a:rPr lang="en-US" sz="1400" b="1" dirty="0">
                <a:solidFill>
                  <a:schemeClr val="accent1"/>
                </a:solidFill>
              </a:rPr>
              <a:t>Security</a:t>
            </a:r>
            <a:endParaRPr lang="en-US" sz="1400" dirty="0"/>
          </a:p>
          <a:p>
            <a:pPr indent="0" marL="0">
              <a:buNone/>
            </a:pPr>
            <a:r>
              <a:rPr lang="en-US" sz="1200" dirty="0">
                <a:solidFill>
                  <a:schemeClr val="tx1"/>
                </a:solidFill>
              </a:rPr>
              <a:t>Trivy, HIGH/CRITICAL gate</a:t>
            </a:r>
            <a:endParaRPr lang="en-US" sz="1400" dirty="0"/>
          </a:p>
        </p:txBody>
      </p:sp>
      <p:sp>
        <p:nvSpPr>
          <p:cNvPr id="17" name="Stack Registry"/>
          <p:cNvSpPr/>
          <p:nvPr/>
        </p:nvSpPr>
        <p:spPr>
          <a:xfrm>
            <a:off x="3227832" y="2980944"/>
            <a:ext cx="2606040" cy="749808"/>
          </a:xfrm>
          <a:prstGeom prst="roundRect">
            <a:avLst>
              <a:gd name="adj" fmla="val 7317"/>
            </a:avLst>
          </a:prstGeom>
          <a:solidFill>
            <a:schemeClr val="bg2"/>
          </a:solidFill>
          <a:ln w="12700">
            <a:solidFill>
              <a:schemeClr val="bg2"/>
            </a:solidFill>
            <a:prstDash val="solid"/>
          </a:ln>
        </p:spPr>
      </p:sp>
      <p:sp>
        <p:nvSpPr>
          <p:cNvPr id="18" name="Text 16"/>
          <p:cNvSpPr txBox="1"/>
          <p:nvPr/>
        </p:nvSpPr>
        <p:spPr>
          <a:xfrm>
            <a:off x="3364992" y="2980944"/>
            <a:ext cx="2377440" cy="749808"/>
          </a:xfrm>
          <a:prstGeom prst="rect">
            <a:avLst/>
          </a:prstGeom>
          <a:noFill/>
          <a:ln/>
        </p:spPr>
        <p:txBody>
          <a:bodyPr wrap="square" lIns="0" tIns="0" rIns="0" bIns="0" rtlCol="0" anchor="ctr"/>
          <a:lstStyle/>
          <a:p>
            <a:pPr indent="0" marL="0">
              <a:buNone/>
            </a:pPr>
            <a:r>
              <a:rPr lang="en-US" sz="1400" b="1" dirty="0">
                <a:solidFill>
                  <a:schemeClr val="accent1"/>
                </a:solidFill>
              </a:rPr>
              <a:t>Registry</a:t>
            </a:r>
            <a:endParaRPr lang="en-US" sz="1400" dirty="0"/>
          </a:p>
          <a:p>
            <a:pPr indent="0" marL="0">
              <a:buNone/>
            </a:pPr>
            <a:r>
              <a:rPr lang="en-US" sz="1200" dirty="0">
                <a:solidFill>
                  <a:schemeClr val="tx1"/>
                </a:solidFill>
              </a:rPr>
              <a:t>GHCR, commit-SHA tags</a:t>
            </a:r>
            <a:endParaRPr lang="en-US" sz="1400" dirty="0"/>
          </a:p>
        </p:txBody>
      </p:sp>
      <p:sp>
        <p:nvSpPr>
          <p:cNvPr id="19" name="Stack Infrastructure"/>
          <p:cNvSpPr/>
          <p:nvPr/>
        </p:nvSpPr>
        <p:spPr>
          <a:xfrm>
            <a:off x="5998464" y="2980944"/>
            <a:ext cx="2606040" cy="749808"/>
          </a:xfrm>
          <a:prstGeom prst="roundRect">
            <a:avLst>
              <a:gd name="adj" fmla="val 7317"/>
            </a:avLst>
          </a:prstGeom>
          <a:solidFill>
            <a:schemeClr val="bg2"/>
          </a:solidFill>
          <a:ln w="12700">
            <a:solidFill>
              <a:schemeClr val="bg2"/>
            </a:solidFill>
            <a:prstDash val="solid"/>
          </a:ln>
        </p:spPr>
      </p:sp>
      <p:sp>
        <p:nvSpPr>
          <p:cNvPr id="20" name="Text 18"/>
          <p:cNvSpPr txBox="1"/>
          <p:nvPr/>
        </p:nvSpPr>
        <p:spPr>
          <a:xfrm>
            <a:off x="6135624" y="2980944"/>
            <a:ext cx="2377440" cy="749808"/>
          </a:xfrm>
          <a:prstGeom prst="rect">
            <a:avLst/>
          </a:prstGeom>
          <a:noFill/>
          <a:ln/>
        </p:spPr>
        <p:txBody>
          <a:bodyPr wrap="square" lIns="0" tIns="0" rIns="0" bIns="0" rtlCol="0" anchor="ctr"/>
          <a:lstStyle/>
          <a:p>
            <a:pPr indent="0" marL="0">
              <a:buNone/>
            </a:pPr>
            <a:r>
              <a:rPr lang="en-US" sz="1400" b="1" dirty="0">
                <a:solidFill>
                  <a:schemeClr val="accent1"/>
                </a:solidFill>
              </a:rPr>
              <a:t>Infrastructure</a:t>
            </a:r>
            <a:endParaRPr lang="en-US" sz="1400" dirty="0"/>
          </a:p>
          <a:p>
            <a:pPr indent="0" marL="0">
              <a:buNone/>
            </a:pPr>
            <a:r>
              <a:rPr lang="en-US" sz="1200" dirty="0">
                <a:solidFill>
                  <a:schemeClr val="tx1"/>
                </a:solidFill>
              </a:rPr>
              <a:t>Terraform: AWS VPC + EKS</a:t>
            </a:r>
            <a:endParaRPr lang="en-US" sz="1400" dirty="0"/>
          </a:p>
        </p:txBody>
      </p:sp>
      <p:sp>
        <p:nvSpPr>
          <p:cNvPr id="21" name="Stack Deployment"/>
          <p:cNvSpPr/>
          <p:nvPr/>
        </p:nvSpPr>
        <p:spPr>
          <a:xfrm>
            <a:off x="457200" y="3877056"/>
            <a:ext cx="2606040" cy="749808"/>
          </a:xfrm>
          <a:prstGeom prst="roundRect">
            <a:avLst>
              <a:gd name="adj" fmla="val 7317"/>
            </a:avLst>
          </a:prstGeom>
          <a:solidFill>
            <a:schemeClr val="bg2"/>
          </a:solidFill>
          <a:ln w="12700">
            <a:solidFill>
              <a:schemeClr val="bg2"/>
            </a:solidFill>
            <a:prstDash val="solid"/>
          </a:ln>
        </p:spPr>
      </p:sp>
      <p:sp>
        <p:nvSpPr>
          <p:cNvPr id="22" name="Text 20"/>
          <p:cNvSpPr txBox="1"/>
          <p:nvPr/>
        </p:nvSpPr>
        <p:spPr>
          <a:xfrm>
            <a:off x="594360" y="3877056"/>
            <a:ext cx="2377440" cy="749808"/>
          </a:xfrm>
          <a:prstGeom prst="rect">
            <a:avLst/>
          </a:prstGeom>
          <a:noFill/>
          <a:ln/>
        </p:spPr>
        <p:txBody>
          <a:bodyPr wrap="square" lIns="0" tIns="0" rIns="0" bIns="0" rtlCol="0" anchor="ctr"/>
          <a:lstStyle/>
          <a:p>
            <a:pPr indent="0" marL="0">
              <a:buNone/>
            </a:pPr>
            <a:r>
              <a:rPr lang="en-US" sz="1400" b="1" dirty="0">
                <a:solidFill>
                  <a:schemeClr val="accent1"/>
                </a:solidFill>
              </a:rPr>
              <a:t>Deployment</a:t>
            </a:r>
            <a:endParaRPr lang="en-US" sz="1400" dirty="0"/>
          </a:p>
          <a:p>
            <a:pPr indent="0" marL="0">
              <a:buNone/>
            </a:pPr>
            <a:r>
              <a:rPr lang="en-US" sz="1200" dirty="0">
                <a:solidFill>
                  <a:schemeClr val="tx1"/>
                </a:solidFill>
              </a:rPr>
              <a:t>Helm chart, Ingress, HPA</a:t>
            </a:r>
            <a:endParaRPr lang="en-US" sz="1400" dirty="0"/>
          </a:p>
        </p:txBody>
      </p:sp>
      <p:sp>
        <p:nvSpPr>
          <p:cNvPr id="23" name="Stack Monitoring"/>
          <p:cNvSpPr/>
          <p:nvPr/>
        </p:nvSpPr>
        <p:spPr>
          <a:xfrm>
            <a:off x="3227832" y="3877056"/>
            <a:ext cx="2606040" cy="749808"/>
          </a:xfrm>
          <a:prstGeom prst="roundRect">
            <a:avLst>
              <a:gd name="adj" fmla="val 7317"/>
            </a:avLst>
          </a:prstGeom>
          <a:solidFill>
            <a:schemeClr val="bg2"/>
          </a:solidFill>
          <a:ln w="12700">
            <a:solidFill>
              <a:schemeClr val="bg2"/>
            </a:solidFill>
            <a:prstDash val="solid"/>
          </a:ln>
        </p:spPr>
      </p:sp>
      <p:sp>
        <p:nvSpPr>
          <p:cNvPr id="24" name="Text 22"/>
          <p:cNvSpPr txBox="1"/>
          <p:nvPr/>
        </p:nvSpPr>
        <p:spPr>
          <a:xfrm>
            <a:off x="3364992" y="3877056"/>
            <a:ext cx="2377440" cy="749808"/>
          </a:xfrm>
          <a:prstGeom prst="rect">
            <a:avLst/>
          </a:prstGeom>
          <a:noFill/>
          <a:ln/>
        </p:spPr>
        <p:txBody>
          <a:bodyPr wrap="square" lIns="0" tIns="0" rIns="0" bIns="0" rtlCol="0" anchor="ctr"/>
          <a:lstStyle/>
          <a:p>
            <a:pPr indent="0" marL="0">
              <a:buNone/>
            </a:pPr>
            <a:r>
              <a:rPr lang="en-US" sz="1400" b="1" dirty="0">
                <a:solidFill>
                  <a:schemeClr val="accent1"/>
                </a:solidFill>
              </a:rPr>
              <a:t>Monitoring</a:t>
            </a:r>
            <a:endParaRPr lang="en-US" sz="1400" dirty="0"/>
          </a:p>
          <a:p>
            <a:pPr indent="0" marL="0">
              <a:buNone/>
            </a:pPr>
            <a:r>
              <a:rPr lang="en-US" sz="1200" dirty="0">
                <a:solidFill>
                  <a:schemeClr val="tx1"/>
                </a:solidFill>
              </a:rPr>
              <a:t>kube-prometheus-stack</a:t>
            </a:r>
            <a:endParaRPr lang="en-US" sz="1400" dirty="0"/>
          </a:p>
        </p:txBody>
      </p:sp>
      <p:sp>
        <p:nvSpPr>
          <p:cNvPr id="25" name="Stack Troubleshooting"/>
          <p:cNvSpPr/>
          <p:nvPr/>
        </p:nvSpPr>
        <p:spPr>
          <a:xfrm>
            <a:off x="5998464" y="3877056"/>
            <a:ext cx="2606040" cy="749808"/>
          </a:xfrm>
          <a:prstGeom prst="roundRect">
            <a:avLst>
              <a:gd name="adj" fmla="val 7317"/>
            </a:avLst>
          </a:prstGeom>
          <a:solidFill>
            <a:schemeClr val="bg2"/>
          </a:solidFill>
          <a:ln w="12700">
            <a:solidFill>
              <a:schemeClr val="bg2"/>
            </a:solidFill>
            <a:prstDash val="solid"/>
          </a:ln>
        </p:spPr>
      </p:sp>
      <p:sp>
        <p:nvSpPr>
          <p:cNvPr id="26" name="Text 24"/>
          <p:cNvSpPr txBox="1"/>
          <p:nvPr/>
        </p:nvSpPr>
        <p:spPr>
          <a:xfrm>
            <a:off x="6135624" y="3877056"/>
            <a:ext cx="2377440" cy="749808"/>
          </a:xfrm>
          <a:prstGeom prst="rect">
            <a:avLst/>
          </a:prstGeom>
          <a:noFill/>
          <a:ln/>
        </p:spPr>
        <p:txBody>
          <a:bodyPr wrap="square" lIns="0" tIns="0" rIns="0" bIns="0" rtlCol="0" anchor="ctr"/>
          <a:lstStyle/>
          <a:p>
            <a:pPr indent="0" marL="0">
              <a:buNone/>
            </a:pPr>
            <a:r>
              <a:rPr lang="en-US" sz="1400" b="1" dirty="0">
                <a:solidFill>
                  <a:schemeClr val="accent1"/>
                </a:solidFill>
              </a:rPr>
              <a:t>Troubleshooting</a:t>
            </a:r>
            <a:endParaRPr lang="en-US" sz="1400" dirty="0"/>
          </a:p>
          <a:p>
            <a:pPr indent="0" marL="0">
              <a:buNone/>
            </a:pPr>
            <a:r>
              <a:rPr lang="en-US" sz="1200" dirty="0">
                <a:solidFill>
                  <a:schemeClr val="tx1"/>
                </a:solidFill>
              </a:rPr>
              <a:t>Deliberately broken manifests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Containers: small, non-root, reproducible</a:t>
            </a:r>
            <a:endParaRPr lang="en-US" sz="2800" dirty="0"/>
          </a:p>
        </p:txBody>
      </p:sp>
      <p:sp>
        <p:nvSpPr>
          <p:cNvPr id="3" name="Marker 1"/>
          <p:cNvSpPr/>
          <p:nvPr/>
        </p:nvSpPr>
        <p:spPr>
          <a:xfrm>
            <a:off x="457200" y="1234440"/>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457200" y="12344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987552" y="1188720"/>
            <a:ext cx="3310128" cy="7315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Non-root by default</a:t>
            </a:r>
            <a:endParaRPr lang="en-US" sz="1500" dirty="0"/>
          </a:p>
          <a:p>
            <a:pPr indent="0" marL="0">
              <a:spcAft>
                <a:spcPts val="200"/>
              </a:spcAft>
              <a:buNone/>
            </a:pPr>
            <a:r>
              <a:rPr lang="en-US" sz="1300" dirty="0">
                <a:solidFill>
                  <a:schemeClr val="tx2"/>
                </a:solidFill>
              </a:rPr>
              <a:t>Backend runs as UID 10001; frontend uses nginx-unprivileged (UID 101, port 8080)</a:t>
            </a:r>
            <a:endParaRPr lang="en-US" sz="1500" dirty="0"/>
          </a:p>
        </p:txBody>
      </p:sp>
      <p:sp>
        <p:nvSpPr>
          <p:cNvPr id="6" name="Marker 2"/>
          <p:cNvSpPr/>
          <p:nvPr/>
        </p:nvSpPr>
        <p:spPr>
          <a:xfrm>
            <a:off x="457200" y="2103120"/>
            <a:ext cx="384048" cy="384048"/>
          </a:xfrm>
          <a:prstGeom prst="ellipse">
            <a:avLst/>
          </a:prstGeom>
          <a:solidFill>
            <a:schemeClr val="accent1"/>
          </a:solidFill>
          <a:ln w="12700">
            <a:solidFill>
              <a:schemeClr val="accent1"/>
            </a:solidFill>
            <a:prstDash val="solid"/>
          </a:ln>
        </p:spPr>
      </p:sp>
      <p:sp>
        <p:nvSpPr>
          <p:cNvPr id="7" name="Text 5"/>
          <p:cNvSpPr txBox="1"/>
          <p:nvPr/>
        </p:nvSpPr>
        <p:spPr>
          <a:xfrm>
            <a:off x="457200" y="21031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987552" y="2057400"/>
            <a:ext cx="3310128" cy="7315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Multi-stage frontend</a:t>
            </a:r>
            <a:endParaRPr lang="en-US" sz="1500" dirty="0"/>
          </a:p>
          <a:p>
            <a:pPr indent="0" marL="0">
              <a:spcAft>
                <a:spcPts val="200"/>
              </a:spcAft>
              <a:buNone/>
            </a:pPr>
            <a:r>
              <a:rPr lang="en-US" sz="1300" dirty="0">
                <a:solidFill>
                  <a:schemeClr val="tx2"/>
                </a:solidFill>
              </a:rPr>
              <a:t>Node build stage → Nginx runtime stage, about 80 MB</a:t>
            </a:r>
            <a:endParaRPr lang="en-US" sz="1500" dirty="0"/>
          </a:p>
        </p:txBody>
      </p:sp>
      <p:sp>
        <p:nvSpPr>
          <p:cNvPr id="9" name="Marker 3"/>
          <p:cNvSpPr/>
          <p:nvPr/>
        </p:nvSpPr>
        <p:spPr>
          <a:xfrm>
            <a:off x="457200" y="2971800"/>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457200" y="2971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987552" y="2926080"/>
            <a:ext cx="3310128" cy="7315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Safe migrations</a:t>
            </a:r>
            <a:endParaRPr lang="en-US" sz="1500" dirty="0"/>
          </a:p>
          <a:p>
            <a:pPr indent="0" marL="0">
              <a:spcAft>
                <a:spcPts val="200"/>
              </a:spcAft>
              <a:buNone/>
            </a:pPr>
            <a:r>
              <a:rPr lang="en-US" sz="1300" dirty="0">
                <a:solidFill>
                  <a:schemeClr val="tx2"/>
                </a:solidFill>
              </a:rPr>
              <a:t>Alembic runs at start behind a Postgres advisory lock, so replicas don't race</a:t>
            </a:r>
            <a:endParaRPr lang="en-US" sz="1500" dirty="0"/>
          </a:p>
        </p:txBody>
      </p:sp>
      <p:sp>
        <p:nvSpPr>
          <p:cNvPr id="12" name="Screenshot frame"/>
          <p:cNvSpPr/>
          <p:nvPr/>
        </p:nvSpPr>
        <p:spPr>
          <a:xfrm>
            <a:off x="4498848" y="1161288"/>
            <a:ext cx="4215384" cy="2519934"/>
          </a:xfrm>
          <a:prstGeom prst="roundRect">
            <a:avLst>
              <a:gd name="adj" fmla="val 2903"/>
            </a:avLst>
          </a:prstGeom>
          <a:solidFill>
            <a:schemeClr val="bg2"/>
          </a:solidFill>
          <a:ln w="9525">
            <a:solidFill>
              <a:schemeClr val="accent4"/>
            </a:solidFill>
            <a:prstDash val="solid"/>
          </a:ln>
          <a:effectLst>
            <a:outerShdw sx="100000" sy="100000" kx="0" ky="0" algn="bl" rotWithShape="0" blurRad="76200" dist="25400" dir="5400000">
              <a:srgbClr val="1F2A30">
                <a:alpha val="18000"/>
              </a:srgbClr>
            </a:outerShdw>
          </a:effectLst>
        </p:spPr>
      </p:sp>
      <p:pic>
        <p:nvPicPr>
          <p:cNvPr id="13" name="docker compose up output" descr="docker compose up output">    </p:cNvPr>
          <p:cNvPicPr>
            <a:picLocks noChangeAspect="1"/>
          </p:cNvPicPr>
          <p:nvPr/>
        </p:nvPicPr>
        <p:blipFill>
          <a:blip r:embed="rId1"/>
          <a:stretch>
            <a:fillRect/>
          </a:stretch>
        </p:blipFill>
        <p:spPr>
          <a:xfrm>
            <a:off x="4572000" y="1234440"/>
            <a:ext cx="4069080" cy="2373630"/>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CI/CD: every push to main ships itself</a:t>
            </a:r>
            <a:endParaRPr lang="en-US" sz="2800" dirty="0"/>
          </a:p>
        </p:txBody>
      </p:sp>
      <p:sp>
        <p:nvSpPr>
          <p:cNvPr id="3" name="Screenshot frame"/>
          <p:cNvSpPr/>
          <p:nvPr/>
        </p:nvSpPr>
        <p:spPr>
          <a:xfrm>
            <a:off x="475488" y="1161288"/>
            <a:ext cx="4809744" cy="3144230"/>
          </a:xfrm>
          <a:prstGeom prst="roundRect">
            <a:avLst>
              <a:gd name="adj" fmla="val 2327"/>
            </a:avLst>
          </a:prstGeom>
          <a:solidFill>
            <a:schemeClr val="bg2"/>
          </a:solidFill>
          <a:ln w="9525">
            <a:solidFill>
              <a:schemeClr val="accent4"/>
            </a:solidFill>
            <a:prstDash val="solid"/>
          </a:ln>
          <a:effectLst>
            <a:outerShdw sx="100000" sy="100000" kx="0" ky="0" algn="bl" rotWithShape="0" blurRad="76200" dist="25400" dir="5400000">
              <a:srgbClr val="1F2A30">
                <a:alpha val="18000"/>
              </a:srgbClr>
            </a:outerShdw>
          </a:effectLst>
        </p:spPr>
      </p:sp>
      <p:pic>
        <p:nvPicPr>
          <p:cNvPr id="4" name="Green GitHub Actions run" descr="Green GitHub Actions run">    </p:cNvPr>
          <p:cNvPicPr>
            <a:picLocks noChangeAspect="1"/>
          </p:cNvPicPr>
          <p:nvPr/>
        </p:nvPicPr>
        <p:blipFill>
          <a:blip r:embed="rId1"/>
          <a:stretch>
            <a:fillRect/>
          </a:stretch>
        </p:blipFill>
        <p:spPr>
          <a:xfrm>
            <a:off x="548640" y="1234440"/>
            <a:ext cx="4663440" cy="2997926"/>
          </a:xfrm>
          <a:prstGeom prst="rect">
            <a:avLst/>
          </a:prstGeom>
        </p:spPr>
      </p:pic>
      <p:sp>
        <p:nvSpPr>
          <p:cNvPr id="5" name="Text 2"/>
          <p:cNvSpPr txBox="1"/>
          <p:nvPr/>
        </p:nvSpPr>
        <p:spPr>
          <a:xfrm>
            <a:off x="5532120" y="1234440"/>
            <a:ext cx="3154680" cy="3017520"/>
          </a:xfrm>
          <a:prstGeom prst="rect">
            <a:avLst/>
          </a:prstGeom>
          <a:noFill/>
          <a:ln/>
        </p:spPr>
        <p:txBody>
          <a:bodyPr wrap="square" lIns="0" tIns="0" rIns="0" bIns="0" rtlCol="0" anchor="t"/>
          <a:lstStyle/>
          <a:p>
            <a:pPr indent="0" marL="0">
              <a:spcAft>
                <a:spcPts val="1000"/>
              </a:spcAft>
              <a:buNone/>
            </a:pPr>
            <a:r>
              <a:rPr lang="en-US" sz="1400" b="1" dirty="0">
                <a:solidFill>
                  <a:schemeClr val="accent1"/>
                </a:solidFill>
              </a:rPr>
              <a:t>test</a:t>
            </a:r>
            <a:pPr indent="0" marL="0">
              <a:spcAft>
                <a:spcPts val="1000"/>
              </a:spcAft>
              <a:buNone/>
            </a:pPr>
            <a:r>
              <a:rPr lang="en-US" sz="1400" dirty="0">
                <a:solidFill>
                  <a:schemeClr val="tx1"/>
                </a:solidFill>
              </a:rPr>
              <a:t>  pytest + frontend build; a failure stops everything</a:t>
            </a:r>
            <a:endParaRPr lang="en-US" sz="1400" dirty="0"/>
          </a:p>
          <a:p>
            <a:pPr indent="0" marL="0">
              <a:spcAft>
                <a:spcPts val="1000"/>
              </a:spcAft>
              <a:buNone/>
            </a:pPr>
            <a:r>
              <a:rPr lang="en-US" sz="1400" b="1" dirty="0">
                <a:solidFill>
                  <a:schemeClr val="accent1"/>
                </a:solidFill>
              </a:rPr>
              <a:t>build-scan-push</a:t>
            </a:r>
            <a:pPr indent="0" marL="0">
              <a:spcAft>
                <a:spcPts val="1000"/>
              </a:spcAft>
              <a:buNone/>
            </a:pPr>
            <a:r>
              <a:rPr lang="en-US" sz="1400" dirty="0">
                <a:solidFill>
                  <a:schemeClr val="tx1"/>
                </a:solidFill>
              </a:rPr>
              <a:t>  Docker build, Trivy, push to GHCR</a:t>
            </a:r>
            <a:endParaRPr lang="en-US" sz="1400" dirty="0"/>
          </a:p>
          <a:p>
            <a:pPr indent="0" marL="0">
              <a:spcAft>
                <a:spcPts val="1000"/>
              </a:spcAft>
              <a:buNone/>
            </a:pPr>
            <a:r>
              <a:rPr lang="en-US" sz="1400" b="1" dirty="0">
                <a:solidFill>
                  <a:schemeClr val="accent1"/>
                </a:solidFill>
              </a:rPr>
              <a:t>deploy</a:t>
            </a:r>
            <a:pPr indent="0" marL="0">
              <a:spcAft>
                <a:spcPts val="1000"/>
              </a:spcAft>
              <a:buNone/>
            </a:pPr>
            <a:r>
              <a:rPr lang="en-US" sz="1400" dirty="0">
                <a:solidFill>
                  <a:schemeClr val="tx1"/>
                </a:solidFill>
              </a:rPr>
              <a:t>  helm upgrade --install on a self-hosted runner</a:t>
            </a:r>
            <a:endParaRPr lang="en-US" sz="1400" dirty="0"/>
          </a:p>
          <a:p>
            <a:pPr indent="0" marL="0">
              <a:spcAft>
                <a:spcPts val="1000"/>
              </a:spcAft>
              <a:buNone/>
            </a:pPr>
            <a:r>
              <a:rPr lang="en-US" sz="1400" b="1" dirty="0">
                <a:solidFill>
                  <a:schemeClr val="accent2"/>
                </a:solidFill>
              </a:rPr>
              <a:t>Images tagged with the commit SHA, never latest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Security gate: Trivy blocks known CVEs</a:t>
            </a:r>
            <a:endParaRPr lang="en-US" sz="2800" dirty="0"/>
          </a:p>
        </p:txBody>
      </p:sp>
      <p:sp>
        <p:nvSpPr>
          <p:cNvPr id="3" name="Text 1"/>
          <p:cNvSpPr txBox="1"/>
          <p:nvPr/>
        </p:nvSpPr>
        <p:spPr>
          <a:xfrm>
            <a:off x="457200" y="1188720"/>
            <a:ext cx="347472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a:t>
            </a:r>
            <a:endParaRPr lang="en-US" sz="4000" dirty="0"/>
          </a:p>
        </p:txBody>
      </p:sp>
      <p:sp>
        <p:nvSpPr>
          <p:cNvPr id="4" name="Text 2"/>
          <p:cNvSpPr txBox="1"/>
          <p:nvPr/>
        </p:nvSpPr>
        <p:spPr>
          <a:xfrm>
            <a:off x="457200" y="1920240"/>
            <a:ext cx="3474720" cy="457200"/>
          </a:xfrm>
          <a:prstGeom prst="rect">
            <a:avLst/>
          </a:prstGeom>
          <a:noFill/>
          <a:ln/>
        </p:spPr>
        <p:txBody>
          <a:bodyPr wrap="square" lIns="0" tIns="0" rIns="0" bIns="0" rtlCol="0" anchor="t"/>
          <a:lstStyle/>
          <a:p>
            <a:pPr indent="0" marL="0">
              <a:buNone/>
            </a:pPr>
            <a:r>
              <a:rPr lang="en-US" sz="1200" dirty="0">
                <a:solidFill>
                  <a:schemeClr val="tx2"/>
                </a:solidFill>
              </a:rPr>
              <a:t>HIGH/CRITICAL fixable CVEs in both images today</a:t>
            </a:r>
            <a:endParaRPr lang="en-US" sz="1200" dirty="0"/>
          </a:p>
        </p:txBody>
      </p:sp>
      <p:sp>
        <p:nvSpPr>
          <p:cNvPr id="5" name="Text 3"/>
          <p:cNvSpPr txBox="1"/>
          <p:nvPr/>
        </p:nvSpPr>
        <p:spPr>
          <a:xfrm>
            <a:off x="457200" y="2423160"/>
            <a:ext cx="3474720" cy="1463040"/>
          </a:xfrm>
          <a:prstGeom prst="rect">
            <a:avLst/>
          </a:prstGeom>
          <a:noFill/>
          <a:ln/>
        </p:spPr>
        <p:txBody>
          <a:bodyPr wrap="square" lIns="0" tIns="0" rIns="0" bIns="0" rtlCol="0" anchor="t"/>
          <a:lstStyle/>
          <a:p>
            <a:pPr indent="0" marL="0">
              <a:buNone/>
            </a:pPr>
            <a:r>
              <a:rPr lang="en-US" sz="1500" b="1" dirty="0">
                <a:solidFill>
                  <a:schemeClr val="tx1"/>
                </a:solidFill>
              </a:rPr>
              <a:t>The gate caught a real one</a:t>
            </a:r>
            <a:endParaRPr lang="en-US" sz="1500" dirty="0"/>
          </a:p>
          <a:p>
            <a:pPr indent="0" marL="0">
              <a:buNone/>
            </a:pPr>
            <a:r>
              <a:rPr lang="en-US" sz="1300" dirty="0">
                <a:solidFill>
                  <a:schemeClr val="tx2"/>
                </a:solidFill>
              </a:rPr>
              <a:t>The first scan failed the frontend: the nginx 1.29 base shipped a vulnerable pcre2 and libtiff. Moving to nginx 1.30 brought patched packages and the gate turned green.</a:t>
            </a:r>
            <a:endParaRPr lang="en-US" sz="1500" dirty="0"/>
          </a:p>
        </p:txBody>
      </p:sp>
      <p:sp>
        <p:nvSpPr>
          <p:cNvPr id="6" name="Text 4"/>
          <p:cNvSpPr txBox="1"/>
          <p:nvPr/>
        </p:nvSpPr>
        <p:spPr>
          <a:xfrm>
            <a:off x="457200" y="3931920"/>
            <a:ext cx="3474720" cy="685800"/>
          </a:xfrm>
          <a:prstGeom prst="rect">
            <a:avLst/>
          </a:prstGeom>
          <a:noFill/>
          <a:ln/>
        </p:spPr>
        <p:txBody>
          <a:bodyPr wrap="square" lIns="0" tIns="0" rIns="0" bIns="0" rtlCol="0" anchor="t"/>
          <a:lstStyle/>
          <a:p>
            <a:pPr indent="0" marL="0">
              <a:buNone/>
            </a:pPr>
            <a:r>
              <a:rPr lang="en-US" sz="1200" i="1" dirty="0">
                <a:solidFill>
                  <a:schemeClr val="accent2"/>
                </a:solidFill>
              </a:rPr>
              <a:t>A clean scan is not proof of safety: it doesn't cover our own code, leaked secrets or future CVEs</a:t>
            </a:r>
            <a:endParaRPr lang="en-US" sz="1200" dirty="0"/>
          </a:p>
        </p:txBody>
      </p:sp>
      <p:sp>
        <p:nvSpPr>
          <p:cNvPr id="7" name="Screenshot frame"/>
          <p:cNvSpPr/>
          <p:nvPr/>
        </p:nvSpPr>
        <p:spPr>
          <a:xfrm>
            <a:off x="4270248" y="1161288"/>
            <a:ext cx="4443984" cy="2857148"/>
          </a:xfrm>
          <a:prstGeom prst="roundRect">
            <a:avLst>
              <a:gd name="adj" fmla="val 2560"/>
            </a:avLst>
          </a:prstGeom>
          <a:solidFill>
            <a:schemeClr val="bg2"/>
          </a:solidFill>
          <a:ln w="9525">
            <a:solidFill>
              <a:schemeClr val="accent4"/>
            </a:solidFill>
            <a:prstDash val="solid"/>
          </a:ln>
          <a:effectLst>
            <a:outerShdw sx="100000" sy="100000" kx="0" ky="0" algn="bl" rotWithShape="0" blurRad="76200" dist="25400" dir="5400000">
              <a:srgbClr val="1F2A30">
                <a:alpha val="18000"/>
              </a:srgbClr>
            </a:outerShdw>
          </a:effectLst>
        </p:spPr>
      </p:sp>
      <p:pic>
        <p:nvPicPr>
          <p:cNvPr id="8" name="Trivy output in the pipeline" descr="Trivy output in the pipeline">    </p:cNvPr>
          <p:cNvPicPr>
            <a:picLocks noChangeAspect="1"/>
          </p:cNvPicPr>
          <p:nvPr/>
        </p:nvPicPr>
        <p:blipFill>
          <a:blip r:embed="rId1"/>
          <a:stretch>
            <a:fillRect/>
          </a:stretch>
        </p:blipFill>
        <p:spPr>
          <a:xfrm>
            <a:off x="4343400" y="1234440"/>
            <a:ext cx="4297680" cy="2710844"/>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Terraform: AWS VPC + EKS as code</a:t>
            </a:r>
            <a:endParaRPr lang="en-US" sz="2800" dirty="0"/>
          </a:p>
        </p:txBody>
      </p:sp>
      <p:sp>
        <p:nvSpPr>
          <p:cNvPr id="3" name="Screenshot frame"/>
          <p:cNvSpPr/>
          <p:nvPr/>
        </p:nvSpPr>
        <p:spPr>
          <a:xfrm>
            <a:off x="475488" y="1161288"/>
            <a:ext cx="4809744" cy="3179126"/>
          </a:xfrm>
          <a:prstGeom prst="roundRect">
            <a:avLst>
              <a:gd name="adj" fmla="val 2301"/>
            </a:avLst>
          </a:prstGeom>
          <a:solidFill>
            <a:schemeClr val="bg2"/>
          </a:solidFill>
          <a:ln w="9525">
            <a:solidFill>
              <a:schemeClr val="accent4"/>
            </a:solidFill>
            <a:prstDash val="solid"/>
          </a:ln>
          <a:effectLst>
            <a:outerShdw sx="100000" sy="100000" kx="0" ky="0" algn="bl" rotWithShape="0" blurRad="76200" dist="25400" dir="5400000">
              <a:srgbClr val="1F2A30">
                <a:alpha val="18000"/>
              </a:srgbClr>
            </a:outerShdw>
          </a:effectLst>
        </p:spPr>
      </p:sp>
      <p:pic>
        <p:nvPicPr>
          <p:cNvPr id="4" name="EKS cluster in the AWS Console" descr="EKS cluster in the AWS Console">    </p:cNvPr>
          <p:cNvPicPr>
            <a:picLocks noChangeAspect="1"/>
          </p:cNvPicPr>
          <p:nvPr/>
        </p:nvPicPr>
        <p:blipFill>
          <a:blip r:embed="rId1"/>
          <a:stretch>
            <a:fillRect/>
          </a:stretch>
        </p:blipFill>
        <p:spPr>
          <a:xfrm>
            <a:off x="548640" y="1234440"/>
            <a:ext cx="4663440" cy="3032822"/>
          </a:xfrm>
          <a:prstGeom prst="rect">
            <a:avLst/>
          </a:prstGeom>
        </p:spPr>
      </p:pic>
      <p:sp>
        <p:nvSpPr>
          <p:cNvPr id="5" name="Text 2"/>
          <p:cNvSpPr txBox="1"/>
          <p:nvPr/>
        </p:nvSpPr>
        <p:spPr>
          <a:xfrm>
            <a:off x="5532120" y="1188720"/>
            <a:ext cx="315468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1.36</a:t>
            </a:r>
            <a:endParaRPr lang="en-US" sz="4000" dirty="0"/>
          </a:p>
        </p:txBody>
      </p:sp>
      <p:sp>
        <p:nvSpPr>
          <p:cNvPr id="6" name="Text 3"/>
          <p:cNvSpPr txBox="1"/>
          <p:nvPr/>
        </p:nvSpPr>
        <p:spPr>
          <a:xfrm>
            <a:off x="5532120" y="1920240"/>
            <a:ext cx="3154680" cy="457200"/>
          </a:xfrm>
          <a:prstGeom prst="rect">
            <a:avLst/>
          </a:prstGeom>
          <a:noFill/>
          <a:ln/>
        </p:spPr>
        <p:txBody>
          <a:bodyPr wrap="square" lIns="0" tIns="0" rIns="0" bIns="0" rtlCol="0" anchor="t"/>
          <a:lstStyle/>
          <a:p>
            <a:pPr indent="0" marL="0">
              <a:buNone/>
            </a:pPr>
            <a:r>
              <a:rPr lang="en-US" sz="1200" dirty="0">
                <a:solidFill>
                  <a:schemeClr val="tx2"/>
                </a:solidFill>
              </a:rPr>
              <a:t>EKS version, in standard support ($0.10/h control plane, not $0.60)</a:t>
            </a:r>
            <a:endParaRPr lang="en-US" sz="1200" dirty="0"/>
          </a:p>
        </p:txBody>
      </p:sp>
      <p:sp>
        <p:nvSpPr>
          <p:cNvPr id="7" name="Text 4"/>
          <p:cNvSpPr txBox="1"/>
          <p:nvPr/>
        </p:nvSpPr>
        <p:spPr>
          <a:xfrm>
            <a:off x="5532120" y="2514600"/>
            <a:ext cx="315468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$0.25/h</a:t>
            </a:r>
            <a:endParaRPr lang="en-US" sz="4000" dirty="0"/>
          </a:p>
        </p:txBody>
      </p:sp>
      <p:sp>
        <p:nvSpPr>
          <p:cNvPr id="8" name="Text 5"/>
          <p:cNvSpPr txBox="1"/>
          <p:nvPr/>
        </p:nvSpPr>
        <p:spPr>
          <a:xfrm>
            <a:off x="5532120" y="3246120"/>
            <a:ext cx="3154680" cy="457200"/>
          </a:xfrm>
          <a:prstGeom prst="rect">
            <a:avLst/>
          </a:prstGeom>
          <a:noFill/>
          <a:ln/>
        </p:spPr>
        <p:txBody>
          <a:bodyPr wrap="square" lIns="0" tIns="0" rIns="0" bIns="0" rtlCol="0" anchor="t"/>
          <a:lstStyle/>
          <a:p>
            <a:pPr indent="0" marL="0">
              <a:buNone/>
            </a:pPr>
            <a:r>
              <a:rPr lang="en-US" sz="1200" dirty="0">
                <a:solidFill>
                  <a:schemeClr val="tx2"/>
                </a:solidFill>
              </a:rPr>
              <a:t>for the whole stack, so terraform destroy runs at the end</a:t>
            </a:r>
            <a:endParaRPr lang="en-US" sz="1200" dirty="0"/>
          </a:p>
        </p:txBody>
      </p:sp>
      <p:sp>
        <p:nvSpPr>
          <p:cNvPr id="9" name="Text 6"/>
          <p:cNvSpPr txBox="1"/>
          <p:nvPr/>
        </p:nvSpPr>
        <p:spPr>
          <a:xfrm>
            <a:off x="5532120" y="3840480"/>
            <a:ext cx="3154680" cy="777240"/>
          </a:xfrm>
          <a:prstGeom prst="rect">
            <a:avLst/>
          </a:prstGeom>
          <a:noFill/>
          <a:ln/>
        </p:spPr>
        <p:txBody>
          <a:bodyPr wrap="square" lIns="0" tIns="0" rIns="0" bIns="0" rtlCol="0" anchor="t"/>
          <a:lstStyle/>
          <a:p>
            <a:pPr indent="0" marL="0">
              <a:buNone/>
            </a:pPr>
            <a:r>
              <a:rPr lang="en-US" sz="1200" dirty="0">
                <a:solidFill>
                  <a:schemeClr val="tx2"/>
                </a:solidFill>
              </a:rPr>
              <a:t>2 public + 2 private subnets across 2 AZs, NAT, c7i-flex.large nodes (free-tier eligible)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Kubernetes with Helm</a:t>
            </a:r>
            <a:endParaRPr lang="en-US" sz="2800" dirty="0"/>
          </a:p>
        </p:txBody>
      </p:sp>
      <p:sp>
        <p:nvSpPr>
          <p:cNvPr id="3" name="Screenshot frame"/>
          <p:cNvSpPr/>
          <p:nvPr/>
        </p:nvSpPr>
        <p:spPr>
          <a:xfrm>
            <a:off x="841248" y="1115568"/>
            <a:ext cx="7461504" cy="2622218"/>
          </a:xfrm>
          <a:prstGeom prst="roundRect">
            <a:avLst>
              <a:gd name="adj" fmla="val 2790"/>
            </a:avLst>
          </a:prstGeom>
          <a:solidFill>
            <a:schemeClr val="bg2"/>
          </a:solidFill>
          <a:ln w="9525">
            <a:solidFill>
              <a:schemeClr val="accent4"/>
            </a:solidFill>
            <a:prstDash val="solid"/>
          </a:ln>
          <a:effectLst>
            <a:outerShdw sx="100000" sy="100000" kx="0" ky="0" algn="bl" rotWithShape="0" blurRad="76200" dist="25400" dir="5400000">
              <a:srgbClr val="1F2A30">
                <a:alpha val="18000"/>
              </a:srgbClr>
            </a:outerShdw>
          </a:effectLst>
        </p:spPr>
      </p:sp>
      <p:pic>
        <p:nvPicPr>
          <p:cNvPr id="4" name="helm list, Ingress and HPA output" descr="helm list, Ingress and HPA output">    </p:cNvPr>
          <p:cNvPicPr>
            <a:picLocks noChangeAspect="1"/>
          </p:cNvPicPr>
          <p:nvPr/>
        </p:nvPicPr>
        <p:blipFill>
          <a:blip r:embed="rId1"/>
          <a:stretch>
            <a:fillRect/>
          </a:stretch>
        </p:blipFill>
        <p:spPr>
          <a:xfrm>
            <a:off x="914400" y="1188720"/>
            <a:ext cx="7315200" cy="2475914"/>
          </a:xfrm>
          <a:prstGeom prst="rect">
            <a:avLst/>
          </a:prstGeom>
        </p:spPr>
      </p:pic>
      <p:sp>
        <p:nvSpPr>
          <p:cNvPr id="5" name="Marker 1"/>
          <p:cNvSpPr/>
          <p:nvPr/>
        </p:nvSpPr>
        <p:spPr>
          <a:xfrm>
            <a:off x="457200" y="3977640"/>
            <a:ext cx="384048" cy="384048"/>
          </a:xfrm>
          <a:prstGeom prst="ellipse">
            <a:avLst/>
          </a:prstGeom>
          <a:solidFill>
            <a:schemeClr val="accent1"/>
          </a:solidFill>
          <a:ln w="12700">
            <a:solidFill>
              <a:schemeClr val="accent1"/>
            </a:solidFill>
            <a:prstDash val="solid"/>
          </a:ln>
        </p:spPr>
      </p:sp>
      <p:sp>
        <p:nvSpPr>
          <p:cNvPr id="6" name="Text 3"/>
          <p:cNvSpPr txBox="1"/>
          <p:nvPr/>
        </p:nvSpPr>
        <p:spPr>
          <a:xfrm>
            <a:off x="457200" y="39776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987552" y="3931920"/>
            <a:ext cx="2167128" cy="7315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Ingress</a:t>
            </a:r>
            <a:endParaRPr lang="en-US" sz="1500" dirty="0"/>
          </a:p>
          <a:p>
            <a:pPr indent="0" marL="0">
              <a:spcAft>
                <a:spcPts val="200"/>
              </a:spcAft>
              <a:buNone/>
            </a:pPr>
            <a:r>
              <a:rPr lang="en-US" sz="1300" dirty="0">
                <a:solidFill>
                  <a:schemeClr val="tx2"/>
                </a:solidFill>
              </a:rPr>
              <a:t>One hostname; / → frontend, /api → backend</a:t>
            </a:r>
            <a:endParaRPr lang="en-US" sz="1500" dirty="0"/>
          </a:p>
        </p:txBody>
      </p:sp>
      <p:sp>
        <p:nvSpPr>
          <p:cNvPr id="8" name="Marker 2"/>
          <p:cNvSpPr/>
          <p:nvPr/>
        </p:nvSpPr>
        <p:spPr>
          <a:xfrm>
            <a:off x="3246120" y="3977640"/>
            <a:ext cx="384048" cy="384048"/>
          </a:xfrm>
          <a:prstGeom prst="ellipse">
            <a:avLst/>
          </a:prstGeom>
          <a:solidFill>
            <a:schemeClr val="accent1"/>
          </a:solidFill>
          <a:ln w="12700">
            <a:solidFill>
              <a:schemeClr val="accent1"/>
            </a:solidFill>
            <a:prstDash val="solid"/>
          </a:ln>
        </p:spPr>
      </p:sp>
      <p:sp>
        <p:nvSpPr>
          <p:cNvPr id="9" name="Text 6"/>
          <p:cNvSpPr txBox="1"/>
          <p:nvPr/>
        </p:nvSpPr>
        <p:spPr>
          <a:xfrm>
            <a:off x="3246120" y="39776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3776472" y="3931920"/>
            <a:ext cx="2167128" cy="7315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Probes</a:t>
            </a:r>
            <a:endParaRPr lang="en-US" sz="1500" dirty="0"/>
          </a:p>
          <a:p>
            <a:pPr indent="0" marL="0">
              <a:spcAft>
                <a:spcPts val="200"/>
              </a:spcAft>
              <a:buNone/>
            </a:pPr>
            <a:r>
              <a:rPr lang="en-US" sz="1300" dirty="0">
                <a:solidFill>
                  <a:schemeClr val="tx2"/>
                </a:solidFill>
              </a:rPr>
              <a:t>/health = alive (no DB); /ready = DB answers</a:t>
            </a:r>
            <a:endParaRPr lang="en-US" sz="1500" dirty="0"/>
          </a:p>
        </p:txBody>
      </p:sp>
      <p:sp>
        <p:nvSpPr>
          <p:cNvPr id="11" name="Marker 3"/>
          <p:cNvSpPr/>
          <p:nvPr/>
        </p:nvSpPr>
        <p:spPr>
          <a:xfrm>
            <a:off x="6035040" y="3977640"/>
            <a:ext cx="384048" cy="384048"/>
          </a:xfrm>
          <a:prstGeom prst="ellipse">
            <a:avLst/>
          </a:prstGeom>
          <a:solidFill>
            <a:schemeClr val="accent1"/>
          </a:solidFill>
          <a:ln w="12700">
            <a:solidFill>
              <a:schemeClr val="accent1"/>
            </a:solidFill>
            <a:prstDash val="solid"/>
          </a:ln>
        </p:spPr>
      </p:sp>
      <p:sp>
        <p:nvSpPr>
          <p:cNvPr id="12" name="Text 9"/>
          <p:cNvSpPr txBox="1"/>
          <p:nvPr/>
        </p:nvSpPr>
        <p:spPr>
          <a:xfrm>
            <a:off x="6035040" y="39776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0"/>
          <p:cNvSpPr txBox="1"/>
          <p:nvPr/>
        </p:nvSpPr>
        <p:spPr>
          <a:xfrm>
            <a:off x="6565392" y="3931920"/>
            <a:ext cx="2167128" cy="7315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No latest</a:t>
            </a:r>
            <a:endParaRPr lang="en-US" sz="1500" dirty="0"/>
          </a:p>
          <a:p>
            <a:pPr indent="0" marL="0">
              <a:spcAft>
                <a:spcPts val="200"/>
              </a:spcAft>
              <a:buNone/>
            </a:pPr>
            <a:r>
              <a:rPr lang="en-US" sz="1300" dirty="0">
                <a:solidFill>
                  <a:schemeClr val="tx2"/>
                </a:solidFill>
              </a:rPr>
              <a:t>The chart refuses to render without an image tag</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Autoscaling under load</a:t>
            </a:r>
            <a:endParaRPr lang="en-US" sz="2800" dirty="0"/>
          </a:p>
        </p:txBody>
      </p:sp>
      <p:sp>
        <p:nvSpPr>
          <p:cNvPr id="3" name="Text 1"/>
          <p:cNvSpPr txBox="1"/>
          <p:nvPr/>
        </p:nvSpPr>
        <p:spPr>
          <a:xfrm>
            <a:off x="457200" y="1188720"/>
            <a:ext cx="3474720" cy="73152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11% → 457%</a:t>
            </a:r>
            <a:endParaRPr lang="en-US" sz="4000" dirty="0"/>
          </a:p>
        </p:txBody>
      </p:sp>
      <p:sp>
        <p:nvSpPr>
          <p:cNvPr id="4" name="Text 2"/>
          <p:cNvSpPr txBox="1"/>
          <p:nvPr/>
        </p:nvSpPr>
        <p:spPr>
          <a:xfrm>
            <a:off x="457200" y="1920240"/>
            <a:ext cx="3474720" cy="457200"/>
          </a:xfrm>
          <a:prstGeom prst="rect">
            <a:avLst/>
          </a:prstGeom>
          <a:noFill/>
          <a:ln/>
        </p:spPr>
        <p:txBody>
          <a:bodyPr wrap="square" lIns="0" tIns="0" rIns="0" bIns="0" rtlCol="0" anchor="t"/>
          <a:lstStyle/>
          <a:p>
            <a:pPr indent="0" marL="0">
              <a:buNone/>
            </a:pPr>
            <a:r>
              <a:rPr lang="en-US" sz="1200" dirty="0">
                <a:solidFill>
                  <a:schemeClr val="tx2"/>
                </a:solidFill>
              </a:rPr>
              <a:t>backend CPU against a 60% target during scripts/load-test.sh</a:t>
            </a:r>
            <a:endParaRPr lang="en-US" sz="1200" dirty="0"/>
          </a:p>
        </p:txBody>
      </p:sp>
      <p:sp>
        <p:nvSpPr>
          <p:cNvPr id="5" name="Text 3"/>
          <p:cNvSpPr txBox="1"/>
          <p:nvPr/>
        </p:nvSpPr>
        <p:spPr>
          <a:xfrm>
            <a:off x="457200" y="2514600"/>
            <a:ext cx="3474720" cy="73152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2 → 6 pods</a:t>
            </a:r>
            <a:endParaRPr lang="en-US" sz="4000" dirty="0"/>
          </a:p>
        </p:txBody>
      </p:sp>
      <p:sp>
        <p:nvSpPr>
          <p:cNvPr id="6" name="Text 4"/>
          <p:cNvSpPr txBox="1"/>
          <p:nvPr/>
        </p:nvSpPr>
        <p:spPr>
          <a:xfrm>
            <a:off x="457200" y="3246120"/>
            <a:ext cx="3474720" cy="457200"/>
          </a:xfrm>
          <a:prstGeom prst="rect">
            <a:avLst/>
          </a:prstGeom>
          <a:noFill/>
          <a:ln/>
        </p:spPr>
        <p:txBody>
          <a:bodyPr wrap="square" lIns="0" tIns="0" rIns="0" bIns="0" rtlCol="0" anchor="t"/>
          <a:lstStyle/>
          <a:p>
            <a:pPr indent="0" marL="0">
              <a:buNone/>
            </a:pPr>
            <a:r>
              <a:rPr lang="en-US" sz="1200" dirty="0">
                <a:solidFill>
                  <a:schemeClr val="tx2"/>
                </a:solidFill>
              </a:rPr>
              <a:t>HPA scaled the backend 2 → 4 → 6, then back down</a:t>
            </a:r>
            <a:endParaRPr lang="en-US" sz="1200" dirty="0"/>
          </a:p>
        </p:txBody>
      </p:sp>
      <p:sp>
        <p:nvSpPr>
          <p:cNvPr id="7" name="Screenshot frame"/>
          <p:cNvSpPr/>
          <p:nvPr/>
        </p:nvSpPr>
        <p:spPr>
          <a:xfrm>
            <a:off x="4270248" y="1161288"/>
            <a:ext cx="4443984" cy="2262085"/>
          </a:xfrm>
          <a:prstGeom prst="roundRect">
            <a:avLst>
              <a:gd name="adj" fmla="val 3234"/>
            </a:avLst>
          </a:prstGeom>
          <a:solidFill>
            <a:schemeClr val="bg2"/>
          </a:solidFill>
          <a:ln w="9525">
            <a:solidFill>
              <a:schemeClr val="accent4"/>
            </a:solidFill>
            <a:prstDash val="solid"/>
          </a:ln>
          <a:effectLst>
            <a:outerShdw sx="100000" sy="100000" kx="0" ky="0" algn="bl" rotWithShape="0" blurRad="76200" dist="25400" dir="5400000">
              <a:srgbClr val="1F2A30">
                <a:alpha val="18000"/>
              </a:srgbClr>
            </a:outerShdw>
          </a:effectLst>
        </p:spPr>
      </p:sp>
      <p:pic>
        <p:nvPicPr>
          <p:cNvPr id="8" name="kubectl get hpa watch output" descr="kubectl get hpa watch output">    </p:cNvPr>
          <p:cNvPicPr>
            <a:picLocks noChangeAspect="1"/>
          </p:cNvPicPr>
          <p:nvPr/>
        </p:nvPicPr>
        <p:blipFill>
          <a:blip r:embed="rId1"/>
          <a:stretch>
            <a:fillRect/>
          </a:stretch>
        </p:blipFill>
        <p:spPr>
          <a:xfrm>
            <a:off x="4343400" y="1234440"/>
            <a:ext cx="4297680" cy="2115781"/>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Observability: Prometheus + Grafana</a:t>
            </a:r>
            <a:endParaRPr lang="en-US" sz="2800" dirty="0"/>
          </a:p>
        </p:txBody>
      </p:sp>
      <p:sp>
        <p:nvSpPr>
          <p:cNvPr id="3" name="Screenshot frame"/>
          <p:cNvSpPr/>
          <p:nvPr/>
        </p:nvSpPr>
        <p:spPr>
          <a:xfrm>
            <a:off x="475488" y="1161288"/>
            <a:ext cx="5266944" cy="2926080"/>
          </a:xfrm>
          <a:prstGeom prst="roundRect">
            <a:avLst>
              <a:gd name="adj" fmla="val 2500"/>
            </a:avLst>
          </a:prstGeom>
          <a:solidFill>
            <a:schemeClr val="bg2"/>
          </a:solidFill>
          <a:ln w="9525">
            <a:solidFill>
              <a:schemeClr val="accent4"/>
            </a:solidFill>
            <a:prstDash val="solid"/>
          </a:ln>
          <a:effectLst>
            <a:outerShdw sx="100000" sy="100000" kx="0" ky="0" algn="bl" rotWithShape="0" blurRad="76200" dist="25400" dir="5400000">
              <a:srgbClr val="1F2A30">
                <a:alpha val="18000"/>
              </a:srgbClr>
            </a:outerShdw>
          </a:effectLst>
        </p:spPr>
      </p:sp>
      <p:pic>
        <p:nvPicPr>
          <p:cNvPr id="4" name="Grafana StockFlow API dashboard" descr="Grafana StockFlow API dashboard">    </p:cNvPr>
          <p:cNvPicPr>
            <a:picLocks noChangeAspect="1"/>
          </p:cNvPicPr>
          <p:nvPr/>
        </p:nvPicPr>
        <p:blipFill>
          <a:blip r:embed="rId1"/>
          <a:stretch>
            <a:fillRect/>
          </a:stretch>
        </p:blipFill>
        <p:spPr>
          <a:xfrm>
            <a:off x="548640" y="1234440"/>
            <a:ext cx="5120640" cy="2779776"/>
          </a:xfrm>
          <a:prstGeom prst="rect">
            <a:avLst/>
          </a:prstGeom>
        </p:spPr>
      </p:pic>
      <p:sp>
        <p:nvSpPr>
          <p:cNvPr id="5" name="Text 2"/>
          <p:cNvSpPr txBox="1"/>
          <p:nvPr/>
        </p:nvSpPr>
        <p:spPr>
          <a:xfrm>
            <a:off x="5989320" y="1234440"/>
            <a:ext cx="269748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Requests per second</a:t>
            </a:r>
            <a:endParaRPr lang="en-US" sz="1400" dirty="0"/>
          </a:p>
          <a:p>
            <a:pPr marL="342900" indent="-342900">
              <a:spcAft>
                <a:spcPts val="600"/>
              </a:spcAft>
              <a:buSzPct val="100000"/>
              <a:buChar char="•"/>
            </a:pPr>
            <a:r>
              <a:rPr lang="en-US" sz="1400" dirty="0">
                <a:solidFill>
                  <a:schemeClr val="tx1"/>
                </a:solidFill>
              </a:rPr>
              <a:t>p95 latency</a:t>
            </a:r>
            <a:endParaRPr lang="en-US" sz="1400" dirty="0"/>
          </a:p>
          <a:p>
            <a:pPr marL="342900" indent="-342900">
              <a:spcAft>
                <a:spcPts val="600"/>
              </a:spcAft>
              <a:buSzPct val="100000"/>
              <a:buChar char="•"/>
            </a:pPr>
            <a:r>
              <a:rPr lang="en-US" sz="1400" dirty="0">
                <a:solidFill>
                  <a:schemeClr val="tx1"/>
                </a:solidFill>
              </a:rPr>
              <a:t>5xx error rate</a:t>
            </a:r>
            <a:endParaRPr lang="en-US" sz="1400" dirty="0"/>
          </a:p>
          <a:p>
            <a:pPr marL="342900" indent="-342900">
              <a:spcAft>
                <a:spcPts val="600"/>
              </a:spcAft>
              <a:buSzPct val="100000"/>
              <a:buChar char="•"/>
            </a:pPr>
            <a:r>
              <a:rPr lang="en-US" sz="1400" dirty="0">
                <a:solidFill>
                  <a:schemeClr val="tx1"/>
                </a:solidFill>
              </a:rPr>
              <a:t>Running pods and CPU</a:t>
            </a:r>
            <a:endParaRPr lang="en-US" sz="1400" dirty="0"/>
          </a:p>
        </p:txBody>
      </p:sp>
      <p:sp>
        <p:nvSpPr>
          <p:cNvPr id="6" name="Text 3"/>
          <p:cNvSpPr txBox="1"/>
          <p:nvPr/>
        </p:nvSpPr>
        <p:spPr>
          <a:xfrm>
            <a:off x="5989320" y="3108960"/>
            <a:ext cx="2697480" cy="1005840"/>
          </a:xfrm>
          <a:prstGeom prst="rect">
            <a:avLst/>
          </a:prstGeom>
          <a:noFill/>
          <a:ln/>
        </p:spPr>
        <p:txBody>
          <a:bodyPr wrap="square" lIns="0" tIns="0" rIns="0" bIns="0" rtlCol="0" anchor="t"/>
          <a:lstStyle/>
          <a:p>
            <a:pPr indent="0" marL="0">
              <a:buNone/>
            </a:pPr>
            <a:r>
              <a:rPr lang="en-US" sz="1200" i="1" dirty="0">
                <a:solidFill>
                  <a:schemeClr val="accent2"/>
                </a:solidFill>
              </a:rPr>
              <a:t>The dashboard ships inside the Helm chart, and a ServiceMonitor tells Prometheus to scrape /metrics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Troubleshooting labs: break it, then fix it</a:t>
            </a:r>
            <a:endParaRPr lang="en-US" sz="2800" dirty="0"/>
          </a:p>
        </p:txBody>
      </p:sp>
      <p:sp>
        <p:nvSpPr>
          <p:cNvPr id="3" name="ImagePullBackOff"/>
          <p:cNvSpPr/>
          <p:nvPr/>
        </p:nvSpPr>
        <p:spPr>
          <a:xfrm>
            <a:off x="457200" y="1188720"/>
            <a:ext cx="4023360" cy="2926080"/>
          </a:xfrm>
          <a:prstGeom prst="roundRect">
            <a:avLst>
              <a:gd name="adj" fmla="val 2500"/>
            </a:avLst>
          </a:prstGeom>
          <a:solidFill>
            <a:schemeClr val="bg2"/>
          </a:solidFill>
          <a:ln w="12700">
            <a:solidFill>
              <a:schemeClr val="bg2"/>
            </a:solidFill>
            <a:prstDash val="solid"/>
          </a:ln>
        </p:spPr>
      </p:sp>
      <p:sp>
        <p:nvSpPr>
          <p:cNvPr id="4" name="Text 2"/>
          <p:cNvSpPr txBox="1"/>
          <p:nvPr/>
        </p:nvSpPr>
        <p:spPr>
          <a:xfrm>
            <a:off x="685800" y="1325880"/>
            <a:ext cx="3566160" cy="457200"/>
          </a:xfrm>
          <a:prstGeom prst="rect">
            <a:avLst/>
          </a:prstGeom>
          <a:noFill/>
          <a:ln/>
        </p:spPr>
        <p:txBody>
          <a:bodyPr wrap="square" lIns="0" tIns="0" rIns="0" bIns="0" rtlCol="0" anchor="ctr"/>
          <a:lstStyle/>
          <a:p>
            <a:pPr indent="0" marL="0">
              <a:buNone/>
            </a:pPr>
            <a:r>
              <a:rPr lang="en-US" sz="1800" b="1" dirty="0">
                <a:solidFill>
                  <a:schemeClr val="accent5"/>
                </a:solidFill>
              </a:rPr>
              <a:t>ImagePullBackOff</a:t>
            </a:r>
            <a:endParaRPr lang="en-US" sz="1800" dirty="0"/>
          </a:p>
        </p:txBody>
      </p:sp>
      <p:sp>
        <p:nvSpPr>
          <p:cNvPr id="5" name="Text 3"/>
          <p:cNvSpPr txBox="1"/>
          <p:nvPr/>
        </p:nvSpPr>
        <p:spPr>
          <a:xfrm>
            <a:off x="685800" y="1874520"/>
            <a:ext cx="3566160" cy="256032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Cause</a:t>
            </a:r>
            <a:endParaRPr lang="en-US" sz="1400" dirty="0"/>
          </a:p>
          <a:p>
            <a:pPr indent="0" marL="0">
              <a:spcAft>
                <a:spcPts val="400"/>
              </a:spcAft>
              <a:buNone/>
            </a:pPr>
            <a:r>
              <a:rPr lang="en-US" sz="1400" dirty="0">
                <a:solidFill>
                  <a:schemeClr val="tx2"/>
                </a:solidFill>
              </a:rPr>
              <a:t>Tag v9.9.9-does-not-exist was never pushed</a:t>
            </a:r>
            <a:endParaRPr lang="en-US" sz="1400" dirty="0"/>
          </a:p>
          <a:p>
            <a:pPr indent="0" marL="0">
              <a:spcAft>
                <a:spcPts val="400"/>
              </a:spcAft>
              <a:buNone/>
            </a:pPr>
            <a:r>
              <a:rPr lang="en-US" sz="1400" b="1" dirty="0">
                <a:solidFill>
                  <a:schemeClr val="tx1"/>
                </a:solidFill>
              </a:rPr>
              <a:t>How I found it</a:t>
            </a:r>
            <a:endParaRPr lang="en-US" sz="1400" dirty="0"/>
          </a:p>
          <a:p>
            <a:pPr indent="0" marL="0">
              <a:spcAft>
                <a:spcPts val="400"/>
              </a:spcAft>
              <a:buNone/>
            </a:pPr>
            <a:r>
              <a:rPr lang="en-US" sz="1400" dirty="0">
                <a:solidFill>
                  <a:schemeClr val="tx2"/>
                </a:solidFill>
              </a:rPr>
              <a:t>kubectl describe pod → Events: manifest unknown</a:t>
            </a:r>
            <a:endParaRPr lang="en-US" sz="1400" dirty="0"/>
          </a:p>
          <a:p>
            <a:pPr indent="0" marL="0">
              <a:spcAft>
                <a:spcPts val="400"/>
              </a:spcAft>
              <a:buNone/>
            </a:pPr>
            <a:r>
              <a:rPr lang="en-US" sz="1400" b="1" dirty="0">
                <a:solidFill>
                  <a:schemeClr val="tx1"/>
                </a:solidFill>
              </a:rPr>
              <a:t>Fix</a:t>
            </a:r>
            <a:endParaRPr lang="en-US" sz="1400" dirty="0"/>
          </a:p>
          <a:p>
            <a:pPr indent="0" marL="0">
              <a:spcAft>
                <a:spcPts val="400"/>
              </a:spcAft>
              <a:buNone/>
            </a:pPr>
            <a:r>
              <a:rPr lang="en-US" sz="1400" dirty="0">
                <a:solidFill>
                  <a:schemeClr val="tx2"/>
                </a:solidFill>
              </a:rPr>
              <a:t>Point the Deployment at a real commit-SHA tag</a:t>
            </a:r>
            <a:endParaRPr lang="en-US" sz="1400" dirty="0"/>
          </a:p>
        </p:txBody>
      </p:sp>
      <p:sp>
        <p:nvSpPr>
          <p:cNvPr id="6" name="Service with no endpoints"/>
          <p:cNvSpPr/>
          <p:nvPr/>
        </p:nvSpPr>
        <p:spPr>
          <a:xfrm>
            <a:off x="4663440" y="1188720"/>
            <a:ext cx="4023360" cy="2926080"/>
          </a:xfrm>
          <a:prstGeom prst="roundRect">
            <a:avLst>
              <a:gd name="adj" fmla="val 2500"/>
            </a:avLst>
          </a:prstGeom>
          <a:solidFill>
            <a:schemeClr val="bg2"/>
          </a:solidFill>
          <a:ln w="12700">
            <a:solidFill>
              <a:schemeClr val="bg2"/>
            </a:solidFill>
            <a:prstDash val="solid"/>
          </a:ln>
        </p:spPr>
      </p:sp>
      <p:sp>
        <p:nvSpPr>
          <p:cNvPr id="7" name="Text 5"/>
          <p:cNvSpPr txBox="1"/>
          <p:nvPr/>
        </p:nvSpPr>
        <p:spPr>
          <a:xfrm>
            <a:off x="4892040" y="1325880"/>
            <a:ext cx="3566160" cy="457200"/>
          </a:xfrm>
          <a:prstGeom prst="rect">
            <a:avLst/>
          </a:prstGeom>
          <a:noFill/>
          <a:ln/>
        </p:spPr>
        <p:txBody>
          <a:bodyPr wrap="square" lIns="0" tIns="0" rIns="0" bIns="0" rtlCol="0" anchor="ctr"/>
          <a:lstStyle/>
          <a:p>
            <a:pPr indent="0" marL="0">
              <a:buNone/>
            </a:pPr>
            <a:r>
              <a:rPr lang="en-US" sz="1800" b="1" dirty="0">
                <a:solidFill>
                  <a:schemeClr val="accent5"/>
                </a:solidFill>
              </a:rPr>
              <a:t>Service with no endpoints</a:t>
            </a:r>
            <a:endParaRPr lang="en-US" sz="1800" dirty="0"/>
          </a:p>
        </p:txBody>
      </p:sp>
      <p:sp>
        <p:nvSpPr>
          <p:cNvPr id="8" name="Text 6"/>
          <p:cNvSpPr txBox="1"/>
          <p:nvPr/>
        </p:nvSpPr>
        <p:spPr>
          <a:xfrm>
            <a:off x="4892040" y="1874520"/>
            <a:ext cx="3566160" cy="256032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Cause</a:t>
            </a:r>
            <a:endParaRPr lang="en-US" sz="1400" dirty="0"/>
          </a:p>
          <a:p>
            <a:pPr indent="0" marL="0">
              <a:spcAft>
                <a:spcPts val="400"/>
              </a:spcAft>
              <a:buNone/>
            </a:pPr>
            <a:r>
              <a:rPr lang="en-US" sz="1400" dirty="0">
                <a:solidFill>
                  <a:schemeClr val="tx2"/>
                </a:solidFill>
              </a:rPr>
              <a:t>Selector says backnd, pods say backend</a:t>
            </a:r>
            <a:endParaRPr lang="en-US" sz="1400" dirty="0"/>
          </a:p>
          <a:p>
            <a:pPr indent="0" marL="0">
              <a:spcAft>
                <a:spcPts val="400"/>
              </a:spcAft>
              <a:buNone/>
            </a:pPr>
            <a:r>
              <a:rPr lang="en-US" sz="1400" b="1" dirty="0">
                <a:solidFill>
                  <a:schemeClr val="tx1"/>
                </a:solidFill>
              </a:rPr>
              <a:t>How I found it</a:t>
            </a:r>
            <a:endParaRPr lang="en-US" sz="1400" dirty="0"/>
          </a:p>
          <a:p>
            <a:pPr indent="0" marL="0">
              <a:spcAft>
                <a:spcPts val="400"/>
              </a:spcAft>
              <a:buNone/>
            </a:pPr>
            <a:r>
              <a:rPr lang="en-US" sz="1400" dirty="0">
                <a:solidFill>
                  <a:schemeClr val="tx2"/>
                </a:solidFill>
              </a:rPr>
              <a:t>kubectl get endpoints → &lt;none&gt;</a:t>
            </a:r>
            <a:endParaRPr lang="en-US" sz="1400" dirty="0"/>
          </a:p>
          <a:p>
            <a:pPr indent="0" marL="0">
              <a:spcAft>
                <a:spcPts val="400"/>
              </a:spcAft>
              <a:buNone/>
            </a:pPr>
            <a:r>
              <a:rPr lang="en-US" sz="1400" b="1" dirty="0">
                <a:solidFill>
                  <a:schemeClr val="tx1"/>
                </a:solidFill>
              </a:rPr>
              <a:t>Fix</a:t>
            </a:r>
            <a:endParaRPr lang="en-US" sz="1400" dirty="0"/>
          </a:p>
          <a:p>
            <a:pPr indent="0" marL="0">
              <a:spcAft>
                <a:spcPts val="400"/>
              </a:spcAft>
              <a:buNone/>
            </a:pPr>
            <a:r>
              <a:rPr lang="en-US" sz="1400" dirty="0">
                <a:solidFill>
                  <a:schemeClr val="tx2"/>
                </a:solidFill>
              </a:rPr>
              <a:t>Patch the selector; endpoints list pod IPs again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lIns="0" tIns="0" rIns="0" bIns="0" rtlCol="0" anchor="b"/>
          <a:lstStyle/>
          <a:p>
            <a:pPr algn="l" indent="0" marL="0">
              <a:buNone/>
            </a:pPr>
            <a:r>
              <a:rPr lang="en-US" sz="4400" b="1" dirty="0">
                <a:solidFill>
                  <a:schemeClr val="bg1"/>
                </a:solidFill>
              </a:rPr>
              <a:t>Thank you</a:t>
            </a:r>
            <a:endParaRPr lang="en-US" sz="4400" dirty="0"/>
          </a:p>
        </p:txBody>
      </p:sp>
      <p:sp>
        <p:nvSpPr>
          <p:cNvPr id="3" name="Text 0"/>
          <p:cNvSpPr/>
          <p:nvPr>
            <p:ph idx="101" type="body" hasCustomPrompt="1"/>
          </p:nvPr>
        </p:nvSpPr>
        <p:spPr>
          <a:xfrm>
            <a:off x="548640" y="2788920"/>
            <a:ext cx="8046720" cy="1097280"/>
          </a:xfrm>
          <a:prstGeom prst="rect">
            <a:avLst/>
          </a:prstGeom>
          <a:noFill/>
          <a:ln/>
        </p:spPr>
        <p:txBody>
          <a:bodyPr wrap="square" lIns="0" tIns="0" rIns="0" bIns="0" rtlCol="0" anchor="t"/>
          <a:lstStyle/>
          <a:p>
            <a:pPr indent="0" marL="0">
              <a:buNone/>
            </a:pPr>
            <a:r>
              <a:rPr lang="en-US" sz="1800" dirty="0">
                <a:solidFill>
                  <a:schemeClr val="accent4"/>
                </a:solidFill>
              </a:rPr>
              <a:t>Code, docs and evidence: github.com/tirth-alt/stockflow-devops</a:t>
            </a:r>
            <a:endParaRPr lang="en-US" sz="1800" dirty="0"/>
          </a:p>
          <a:p>
            <a:pPr indent="0" marL="0">
              <a:buNone/>
            </a:pPr>
            <a:r>
              <a:rPr lang="en-US" sz="1400" dirty="0">
                <a:solidFill>
                  <a:schemeClr val="accent6"/>
                </a:solidFill>
              </a:rPr>
              <a:t>Demo video: demo/stockflow-demo.mp4</a:t>
            </a:r>
            <a:endParaRPr lang="en-US" sz="1800" dirty="0"/>
          </a:p>
        </p:txBody>
      </p:sp>
    </p:spTree>
  </p:cSld>
  <p:clrMapOvr>
    <a:masterClrMapping/>
  </p:clrMapOvr>
</p:sld>
</file>

<file path=ppt/theme/theme1.xml><?xml version="1.0" encoding="utf-8"?>
<a:theme xmlns:a="http://schemas.openxmlformats.org/drawingml/2006/main" name="StockFlow">
  <a:themeElements>
    <a:clrScheme name="StockFlow">
      <a:dk1>
        <a:srgbClr val="1F2A30"/>
      </a:dk1>
      <a:lt1>
        <a:srgbClr val="FFFFFF"/>
      </a:lt1>
      <a:dk2>
        <a:srgbClr val="33424A"/>
      </a:dk2>
      <a:lt2>
        <a:srgbClr val="F1F3F4"/>
      </a:lt2>
      <a:accent1>
        <a:srgbClr val="E8772E"/>
      </a:accent1>
      <a:accent2>
        <a:srgbClr val="2E8B7A"/>
      </a:accent2>
      <a:accent3>
        <a:srgbClr val="5B6B73"/>
      </a:accent3>
      <a:accent4>
        <a:srgbClr val="C9D2D6"/>
      </a:accent4>
      <a:accent5>
        <a:srgbClr val="B5462A"/>
      </a:accent5>
      <a:accent6>
        <a:srgbClr val="8FA3AD"/>
      </a:accent6>
      <a:hlink>
        <a:srgbClr val="E8772E"/>
      </a:hlink>
      <a:folHlink>
        <a:srgbClr val="B5462A"/>
      </a:folHlink>
    </a:clrScheme>
    <a:fontScheme name="StockFlo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StockFlow: inventory management, shipped the DevOps way</dc:title>
  <dc:subject>PptxGenJS Presentation</dc:subject>
  <dc:creator>tirth-alt</dc:creator>
  <cp:lastModifiedBy>tirth-alt</cp:lastModifiedBy>
  <cp:revision>1</cp:revision>
  <dcterms:created xsi:type="dcterms:W3CDTF">2026-10-28T06:50:47Z</dcterms:created>
  <dcterms:modified xsi:type="dcterms:W3CDTF">2026-10-28T06:50:47Z</dcterms:modified>
</cp:coreProperties>
</file>